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-457200"/>
            <a:ext cx="3200400" cy="3200400"/>
          </a:xfrm>
          <a:prstGeom prst="ellipse">
            <a:avLst/>
          </a:prstGeom>
          <a:solidFill>
            <a:srgbClr val="1A2E4A">
              <a:alpha val="60000"/>
            </a:srgbClr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2286000"/>
            <a:ext cx="2011680" cy="2011680"/>
          </a:xfrm>
          <a:prstGeom prst="ellipse">
            <a:avLst/>
          </a:prstGeom>
          <a:solidFill>
            <a:srgbClr val="E87722">
              <a:alpha val="30000"/>
            </a:srgbClr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228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A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OTOMASYON SİSTEMLERİ | AUTOMATION SYSTEMS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28600" y="100584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PNÖMATİK AKTÜATÖRLER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228600" y="19202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F4A3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 PLC Sistemleriyle Bütünleşimi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228600" y="2606040"/>
            <a:ext cx="4114800" cy="36576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" y="27889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Pnömatik Silindirler • Valf Adaları • </a:t>
            </a:r>
            <a:pPr indent="0" marL="0">
              <a:buNone/>
            </a:pPr>
            <a:r>
              <a:rPr lang="en-US" sz="1300" b="1" dirty="0">
                <a:solidFill>
                  <a:srgbClr val="8A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PLC Çıkış Modülleri &amp; Sürücü Devreleri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28600" y="457200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İlyas Sabri (Eiad Saif)  |  Samsun Üniversitesi  |  Mühendislik ve Doğa Bilimleri Fakültesi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E87722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E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64008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İÇİNDEKİLER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4023360" cy="100584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AE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88720"/>
            <a:ext cx="502920" cy="100584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8872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60120" y="1280160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Pnömatik Aktüatöre Genel Bakış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60120" y="1737360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Tanım ve temel kavramlar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2423160"/>
            <a:ext cx="40233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AE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423160"/>
            <a:ext cx="502920" cy="100584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42316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60120" y="2514600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Çalışma Prensibi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60120" y="2971800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Enerjiyi harekete dönüştürme mekanizması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3657600"/>
            <a:ext cx="4023360" cy="100584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AE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3657600"/>
            <a:ext cx="502920" cy="100584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65760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60120" y="3749040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Endüstriyel Kullanım Alanları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60120" y="4206240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Gerçek uygulama örnekleri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1188720"/>
            <a:ext cx="4023360" cy="100584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AE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1188720"/>
            <a:ext cx="502920" cy="100584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118872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349240" y="1280160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PLC ile Bağlantı Şekli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349240" y="1737360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Çıkış modülleri, sinyal türleri, şematik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54880" y="2423160"/>
            <a:ext cx="40233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AE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2423160"/>
            <a:ext cx="502920" cy="100584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242316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349240" y="2514600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Sürücü &amp; Arayüz Elemanları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349240" y="2971800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Valf sürücüleri, solenoidler, röle/transistör çıkışlar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54880" y="3657600"/>
            <a:ext cx="4023360" cy="100584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AE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54880" y="3657600"/>
            <a:ext cx="502920" cy="100584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0" y="365760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349240" y="3749040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Teknik Şemalar &amp; Özet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349240" y="4206240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Bağlantı diyagramları ve sonuç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E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64008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|  PNÖMATİK AKTÜATÖRE GENEL BAKIŞ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5120640" cy="356616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A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234440"/>
            <a:ext cx="1371600" cy="292608"/>
          </a:xfrm>
          <a:prstGeom prst="roundRect">
            <a:avLst>
              <a:gd name="adj" fmla="val 15625"/>
            </a:avLst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23444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TANIM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600200"/>
            <a:ext cx="48463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Pnömatik aktüatörler, basınçlı hava enerjisini doğrusal (linear) veya dairesel (rotary) mekanik harekete dönüştüren endüstriyel eyleyici cihazlardır.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Temel bileşenleri: silindir gövdesi, piston, piston kolu, hava girişleri ve contalar.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3154680"/>
            <a:ext cx="1645920" cy="292608"/>
          </a:xfrm>
          <a:prstGeom prst="roundRect">
            <a:avLst>
              <a:gd name="adj" fmla="val 15625"/>
            </a:avLst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315468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TEMEL TİPLER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3520440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➤ Tek Etkili Silindir (Single-Acting)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➤ Çift Etkili Silindir (Double-Acting)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➤ Pnömatik Motor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➤ Valf Adası (Valve Manifold)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669280" y="1097280"/>
            <a:ext cx="3200400" cy="77724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669280" y="1097280"/>
            <a:ext cx="54864" cy="77724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33872" y="114300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0.4–0.8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833872" y="153619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MPa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132320" y="123444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Tipik Çalışma Basıncı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669280" y="2011680"/>
            <a:ext cx="3200400" cy="777240"/>
          </a:xfrm>
          <a:prstGeom prst="rect">
            <a:avLst/>
          </a:prstGeom>
          <a:solidFill>
            <a:srgbClr val="0D1B2E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669280" y="2011680"/>
            <a:ext cx="54864" cy="77724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33872" y="205740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5833872" y="245059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m/s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132320" y="214884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Piston Hızı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669280" y="2926080"/>
            <a:ext cx="3200400" cy="77724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669280" y="2926080"/>
            <a:ext cx="54864" cy="77724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33872" y="297180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50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5833872" y="336499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132320" y="306324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Tepki Süresi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669280" y="3840480"/>
            <a:ext cx="3200400" cy="777240"/>
          </a:xfrm>
          <a:prstGeom prst="rect">
            <a:avLst/>
          </a:prstGeom>
          <a:solidFill>
            <a:srgbClr val="0D1B2E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669280" y="3840480"/>
            <a:ext cx="54864" cy="77724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33872" y="388620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∞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5833872" y="427939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çevrim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132320" y="397764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Pratik Ömür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33" name="Text 31"/>
          <p:cNvSpPr/>
          <p:nvPr/>
        </p:nvSpPr>
        <p:spPr>
          <a:xfrm>
            <a:off x="274320" y="4828032"/>
            <a:ext cx="85953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Pnömatik sistemler; temiz, güvenli (patlama riski yok) ve düşük maliyetli endüstriyel otomasyon çözümleri sunar.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E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64008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|  ÇALIŞMA PRENSİBİ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914400" y="1371600"/>
            <a:ext cx="5029200" cy="1280160"/>
          </a:xfrm>
          <a:prstGeom prst="rect">
            <a:avLst/>
          </a:prstGeom>
          <a:solidFill>
            <a:srgbClr val="F0F4F8"/>
          </a:solidFill>
          <a:ln w="25400">
            <a:solidFill>
              <a:srgbClr val="1A2E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371600"/>
            <a:ext cx="91440" cy="128016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0" y="1371600"/>
            <a:ext cx="91440" cy="128016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926080" y="1435608"/>
            <a:ext cx="228600" cy="1152144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54680" y="1828800"/>
            <a:ext cx="2788920" cy="365760"/>
          </a:xfrm>
          <a:prstGeom prst="rect">
            <a:avLst/>
          </a:prstGeom>
          <a:solidFill>
            <a:srgbClr val="4A6080"/>
          </a:solidFill>
          <a:ln w="12700">
            <a:solidFill>
              <a:srgbClr val="4A608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35040" y="1828800"/>
            <a:ext cx="274320" cy="36576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88720" y="1005840"/>
            <a:ext cx="36576" cy="36576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11430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60120" y="777240"/>
            <a:ext cx="777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A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(Hava Girişi)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623560" y="1005840"/>
            <a:ext cx="36576" cy="36576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40680" y="11430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349240" y="777240"/>
            <a:ext cx="777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B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(Hava Çıkışı)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463040" y="27432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Silindir Gövdesi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834640" y="27432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Piston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212080" y="27432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Piston Kolu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914400" y="3108960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ÇİFT ETKİLİ PNÖMATİK SİLİNDİR — KESİT GÖRÜNÜM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943600" y="1097280"/>
            <a:ext cx="2926080" cy="292608"/>
          </a:xfrm>
          <a:prstGeom prst="roundRect">
            <a:avLst>
              <a:gd name="adj" fmla="val 15625"/>
            </a:avLst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0" y="109728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ÇALIŞMA AŞAMALARI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943600" y="1508760"/>
            <a:ext cx="292608" cy="292608"/>
          </a:xfrm>
          <a:prstGeom prst="ellipse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0" y="15087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309360" y="149047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Basınçlı Hava Üretimi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309360" y="1728216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Kompresör havayı sıkıştırır (0.4–0.8 MPa).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943600" y="2167128"/>
            <a:ext cx="292608" cy="292608"/>
          </a:xfrm>
          <a:prstGeom prst="ellipse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43600" y="21671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309360" y="214884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Yön Kontrol Valfi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309360" y="2386584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Solenoid valf hava yönünü belirler.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943600" y="2825496"/>
            <a:ext cx="292608" cy="292608"/>
          </a:xfrm>
          <a:prstGeom prst="ellipse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43600" y="28254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309360" y="2807208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Silindire Giriş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309360" y="304495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Hava Port A veya B'ye verilir.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943600" y="3483864"/>
            <a:ext cx="292608" cy="292608"/>
          </a:xfrm>
          <a:prstGeom prst="ellipse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943600" y="34838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309360" y="3465576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Piston Hareketi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6309360" y="370332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Basınç farkı pistonun ileri/geri gitmesini sağlar.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943600" y="4142232"/>
            <a:ext cx="292608" cy="292608"/>
          </a:xfrm>
          <a:prstGeom prst="ellipse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943600" y="41422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309360" y="4123944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Mekanik İş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6309360" y="436168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Piston kolu yük/araç üzerinde iş yapar.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E4A"/>
          </a:solidFill>
          <a:ln/>
        </p:spPr>
      </p:sp>
      <p:sp>
        <p:nvSpPr>
          <p:cNvPr id="44" name="Text 42"/>
          <p:cNvSpPr/>
          <p:nvPr/>
        </p:nvSpPr>
        <p:spPr>
          <a:xfrm>
            <a:off x="274320" y="4828032"/>
            <a:ext cx="85953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Pascal Prensibi: F = P × A  →  Daha büyük piston alanı = Daha büyük kuvvet çıkışı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E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64008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|  ENDÜSTRİYEL KULLANIM ALANLARI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" y="1051560"/>
            <a:ext cx="28346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AE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051560"/>
            <a:ext cx="2834640" cy="292608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3533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🤖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50392" y="1362456"/>
            <a:ext cx="21214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 &amp; Montaj Kolları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" y="1856232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Otomotiv fabrikalarında araç gövdesi parçalarının tutulması ve taşınması. Hızlı ve tekrarlanabilir hareket için idealdir.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00400" y="1051560"/>
            <a:ext cx="28346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AE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051560"/>
            <a:ext cx="2834640" cy="292608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13533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📦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822192" y="1362456"/>
            <a:ext cx="21214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Paketleme Makineleri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91840" y="1856232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Gıda, ilaç ve elektronik sektöründe ürünlerin paketlenmesi ve etiketlenmesi. Yüksek hızda döngüsel hareket.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172200" y="1051560"/>
            <a:ext cx="28346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AE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72200" y="1051560"/>
            <a:ext cx="2834640" cy="29260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63640" y="13533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🏭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793992" y="1362456"/>
            <a:ext cx="21214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Konveyör &amp; Ayırma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63640" y="1856232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Üretim hatlarında ürünleri sınıflandırma, yönlendirme ve itme görevleri için deflektör silindirler.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28600" y="2971800"/>
            <a:ext cx="28346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AE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28600" y="2971800"/>
            <a:ext cx="2834640" cy="292608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32735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🔧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850392" y="3282696"/>
            <a:ext cx="21214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 &amp; Kıvırma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20040" y="3776472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Metal ve plastik işlemede parça sıkıştırma, zimba ve bükme işlemleri. Yüksek kuvvet/fiyat oranı.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00400" y="2971800"/>
            <a:ext cx="28346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AE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0" y="2971800"/>
            <a:ext cx="2834640" cy="292608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91840" y="32735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🚪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3822192" y="3282696"/>
            <a:ext cx="21214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Kapı &amp; Valf Kontrolü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291840" y="3776472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Endüstriyel kapıların, güvenlik klapelerinin ve boru vanaları otomasyonunda güvenilir açma/kapama.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172200" y="2971800"/>
            <a:ext cx="28346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AE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172200" y="2971800"/>
            <a:ext cx="2834640" cy="29260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63640" y="32735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💊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6793992" y="3282696"/>
            <a:ext cx="21214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Medikal &amp; Temiz Oda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263640" y="3776472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Pnömatik sistemler temiz enerji kaynağı olduğundan ilaç ve gıda üretimi temiz oda uygulamalarında tercih edilir.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E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64008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|  PLC İLE BAĞLANTI ŞEKLİ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2011680" cy="3291840"/>
          </a:xfrm>
          <a:prstGeom prst="rect">
            <a:avLst/>
          </a:prstGeom>
          <a:solidFill>
            <a:srgbClr val="1A2E4A"/>
          </a:solidFill>
          <a:ln w="25400">
            <a:solidFill>
              <a:srgbClr val="0D1B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1430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PLC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164592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
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Giriş Modülü
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4A3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Çıkış Modülü
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Güç Kaynağı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286000" y="2496312"/>
            <a:ext cx="365760" cy="256032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04288" y="2496312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Q0.0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2286000" y="2862072"/>
            <a:ext cx="365760" cy="256032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04288" y="2862072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Q0.1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2286000" y="3227832"/>
            <a:ext cx="365760" cy="256032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304288" y="3227832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Q0.2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2651760" y="2596896"/>
            <a:ext cx="914400" cy="36576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651760" y="2962656"/>
            <a:ext cx="914400" cy="36576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651760" y="3328416"/>
            <a:ext cx="914400" cy="36576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566160" y="2286000"/>
            <a:ext cx="2011680" cy="1463040"/>
          </a:xfrm>
          <a:prstGeom prst="rect">
            <a:avLst/>
          </a:prstGeom>
          <a:solidFill>
            <a:srgbClr val="E6F7F5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566160" y="2286000"/>
            <a:ext cx="2011680" cy="292608"/>
          </a:xfrm>
          <a:prstGeom prst="roundRect">
            <a:avLst>
              <a:gd name="adj" fmla="val 15625"/>
            </a:avLst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66160" y="22860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SOLENOİD VALF SÜRÜCÜ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657600" y="2633472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24V DC Solenoid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5/2 Yönlü Valf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Hava Yön Kontrolü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577840" y="2962656"/>
            <a:ext cx="731520" cy="36576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35040" y="28346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➤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355080" y="2377440"/>
            <a:ext cx="2286000" cy="1188720"/>
          </a:xfrm>
          <a:prstGeom prst="rect">
            <a:avLst/>
          </a:prstGeom>
          <a:solidFill>
            <a:srgbClr val="F0F4F8"/>
          </a:solidFill>
          <a:ln w="25400">
            <a:solidFill>
              <a:srgbClr val="1A2E4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63640" y="2377440"/>
            <a:ext cx="109728" cy="118872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812280" y="2542032"/>
            <a:ext cx="164592" cy="859536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976872" y="2834640"/>
            <a:ext cx="1664208" cy="274320"/>
          </a:xfrm>
          <a:prstGeom prst="rect">
            <a:avLst/>
          </a:prstGeom>
          <a:solidFill>
            <a:srgbClr val="4A6080"/>
          </a:solidFill>
          <a:ln w="12700">
            <a:solidFill>
              <a:srgbClr val="4A608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641080" y="2834640"/>
            <a:ext cx="164592" cy="27432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63640" y="36576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PNÖMATİK</a:t>
            </a:r>
            <a:endParaRPr lang="en-US" sz="9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SİLİNDİR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74320" y="4572000"/>
            <a:ext cx="8595360" cy="45720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AE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1480" y="4645152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Sinyal Türü: </a:t>
            </a:r>
            <a:pPr indent="0" marL="0">
              <a:buNone/>
            </a:pPr>
            <a:r>
              <a:rPr lang="en-US" sz="10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Dijital (0/1)  |  </a:t>
            </a:r>
            <a:pPr indent="0" marL="0">
              <a:buNone/>
            </a:pPr>
            <a:r>
              <a:rPr lang="en-US" sz="105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Çıkış Tipi: </a:t>
            </a:r>
            <a:pPr indent="0" marL="0">
              <a:buNone/>
            </a:pPr>
            <a:r>
              <a:rPr lang="en-US" sz="10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Transistör (NPN/PNP) veya Röle  |  </a:t>
            </a:r>
            <a:pPr indent="0" marL="0">
              <a:buNone/>
            </a:pPr>
            <a:r>
              <a:rPr lang="en-US" sz="105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Gerilim: </a:t>
            </a:r>
            <a:pPr indent="0" marL="0">
              <a:buNone/>
            </a:pPr>
            <a:r>
              <a:rPr lang="en-US" sz="10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24V DC  |  </a:t>
            </a:r>
            <a:pPr indent="0" marL="0">
              <a:buNone/>
            </a:pPr>
            <a:r>
              <a:rPr lang="en-US" sz="105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Akım: </a:t>
            </a:r>
            <a:pPr indent="0" marL="0">
              <a:buNone/>
            </a:pPr>
            <a:r>
              <a:rPr lang="en-US" sz="10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0.1A – 2A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274320" y="4480560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➊ PLC Çıkış Modülü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3566160" y="3794760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➋ Sürücü/Valf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263640" y="4069080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➌ Aktüatör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E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64008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|  SÜRÜCÜ &amp; ARAYÜZ ELEMANLARI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1828800" cy="347472"/>
          </a:xfrm>
          <a:prstGeom prst="rect">
            <a:avLst/>
          </a:prstGeom>
          <a:solidFill>
            <a:srgbClr val="1A2E4A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9728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Eleman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103120" y="1097280"/>
            <a:ext cx="2286000" cy="347472"/>
          </a:xfrm>
          <a:prstGeom prst="rect">
            <a:avLst/>
          </a:prstGeom>
          <a:solidFill>
            <a:srgbClr val="1A2E4A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148840" y="109728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Görev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89120" y="1097280"/>
            <a:ext cx="2011680" cy="347472"/>
          </a:xfrm>
          <a:prstGeom prst="rect">
            <a:avLst/>
          </a:prstGeom>
          <a:solidFill>
            <a:srgbClr val="1A2E4A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34840" y="109728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Sinyal Türü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400800" y="1097280"/>
            <a:ext cx="2468880" cy="347472"/>
          </a:xfrm>
          <a:prstGeom prst="rect">
            <a:avLst/>
          </a:prstGeom>
          <a:solidFill>
            <a:srgbClr val="1A2E4A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46520" y="109728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Uygulama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74320" y="1444752"/>
            <a:ext cx="1828800" cy="86868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AE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1444752"/>
            <a:ext cx="54864" cy="86868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" y="1490472"/>
            <a:ext cx="1691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Transistör Çıkış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(NPN/PNP)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103120" y="1444752"/>
            <a:ext cx="2286000" cy="86868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AE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176272" y="1490472"/>
            <a:ext cx="2148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PLC'den düşük güçlü dijital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üretimi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389120" y="1444752"/>
            <a:ext cx="2011680" cy="86868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A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62272" y="1490472"/>
            <a:ext cx="1874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24V DC Dijital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(Hızlı anahtarlama)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400800" y="1444752"/>
            <a:ext cx="2468880" cy="86868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AE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73952" y="1490472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Küçük solenoid valfler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(&lt; 0.5A)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74320" y="2313432"/>
            <a:ext cx="18288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AE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4320" y="2313432"/>
            <a:ext cx="54864" cy="86868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4048" y="2359152"/>
            <a:ext cx="1691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Röle Çıkış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(Relay Output)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103120" y="2313432"/>
            <a:ext cx="22860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A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176272" y="2359152"/>
            <a:ext cx="2148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Güçlü yük anahtarlama,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AC/DC izolasyonu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389120" y="2313432"/>
            <a:ext cx="20116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A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462272" y="2359152"/>
            <a:ext cx="1874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Dijital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(Daha yavaş, izolasyonlu)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400800" y="2313432"/>
            <a:ext cx="24688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AE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73952" y="2359152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Büyük solenoid,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kontaktörler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74320" y="3182112"/>
            <a:ext cx="1828800" cy="86868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AE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74320" y="3182112"/>
            <a:ext cx="54864" cy="86868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84048" y="3227832"/>
            <a:ext cx="1691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Solenoid Valf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(5/2 veya 5/3)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103120" y="3182112"/>
            <a:ext cx="2286000" cy="86868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AE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176272" y="3227832"/>
            <a:ext cx="2148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Hava yönünü kontrol eder,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PLC sinyalini harekete döner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389120" y="3182112"/>
            <a:ext cx="2011680" cy="86868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AE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462272" y="3227832"/>
            <a:ext cx="1874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Elektrik → Manyetik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Pnömatik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400800" y="3182112"/>
            <a:ext cx="2468880" cy="86868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AE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73952" y="3227832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Tüm pnömatik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silindir aplikasyonları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274320" y="4050792"/>
            <a:ext cx="18288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AE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74320" y="4050792"/>
            <a:ext cx="54864" cy="86868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84048" y="4096512"/>
            <a:ext cx="1691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Valf Adası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(Valve Island)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2103120" y="4050792"/>
            <a:ext cx="22860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AE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176272" y="4096512"/>
            <a:ext cx="2148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Çok kanallı merkezi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valf yönetimi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389120" y="4050792"/>
            <a:ext cx="20116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AE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462272" y="4096512"/>
            <a:ext cx="1874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Dijital veya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Fieldbus (Profibus/EtherNet/IP)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6400800" y="4050792"/>
            <a:ext cx="24688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AE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73952" y="4096512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Karmaşık sistemler,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çok eksenli kontrol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E4A"/>
          </a:solidFill>
          <a:ln/>
        </p:spPr>
      </p:sp>
      <p:sp>
        <p:nvSpPr>
          <p:cNvPr id="50" name="Text 48"/>
          <p:cNvSpPr/>
          <p:nvPr/>
        </p:nvSpPr>
        <p:spPr>
          <a:xfrm>
            <a:off x="274320" y="4828032"/>
            <a:ext cx="85953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Fieldbus protokolleri (Profibus, EtherNet/IP, IO-Link) ile valf adaları PLC'ye doğrudan entegre edilebilir — kablo sayısı %80 azalır.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E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64008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|  TAM SİSTEM BAĞLANTI ŞEMASI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82880" y="1371600"/>
            <a:ext cx="1417320" cy="10058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28600" y="1417320"/>
            <a:ext cx="1325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SENSÖR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(Konum/Basınç)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828800" y="1371600"/>
            <a:ext cx="1554480" cy="100584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874520" y="141732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PLC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GİRİŞ MODÜLÜ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566160" y="1097280"/>
            <a:ext cx="1645920" cy="1463040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11880" y="1143000"/>
            <a:ext cx="1554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PLC CPU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(Kontrol Mantığı)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394960" y="1371600"/>
            <a:ext cx="1554480" cy="100584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40680" y="141732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PLC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ÇIKIŞ MODÜLÜ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(Q0.x - 24VDC)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132320" y="1371600"/>
            <a:ext cx="1645920" cy="100584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178040" y="1417320"/>
            <a:ext cx="1554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SOLENOİD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VALF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(5/2 Yönlü)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1600200" y="1856232"/>
            <a:ext cx="228600" cy="54864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691640" y="17099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383280" y="1856232"/>
            <a:ext cx="182880" cy="54864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29000" y="17099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212080" y="1856232"/>
            <a:ext cx="182880" cy="54864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57800" y="17099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949440" y="1856232"/>
            <a:ext cx="182880" cy="54864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95160" y="17099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909560" y="2377440"/>
            <a:ext cx="54864" cy="54864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0" y="2834640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858000" y="3108960"/>
            <a:ext cx="2103120" cy="914400"/>
          </a:xfrm>
          <a:prstGeom prst="rect">
            <a:avLst/>
          </a:prstGeom>
          <a:solidFill>
            <a:srgbClr val="F0F4F8"/>
          </a:solidFill>
          <a:ln w="25400">
            <a:solidFill>
              <a:srgbClr val="1A2E4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766560" y="3108960"/>
            <a:ext cx="109728" cy="91440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223760" y="3383280"/>
            <a:ext cx="182880" cy="36576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406640" y="3493008"/>
            <a:ext cx="1554480" cy="201168"/>
          </a:xfrm>
          <a:prstGeom prst="rect">
            <a:avLst/>
          </a:prstGeom>
          <a:solidFill>
            <a:srgbClr val="4A6080"/>
          </a:solidFill>
          <a:ln w="12700">
            <a:solidFill>
              <a:srgbClr val="4A608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961120" y="3493008"/>
            <a:ext cx="182880" cy="201168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66560" y="406908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PNÖMATİK SİLİNDİR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868680" y="3108960"/>
            <a:ext cx="54864" cy="9144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68680" y="4005072"/>
            <a:ext cx="6035040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858000" y="4005072"/>
            <a:ext cx="54864" cy="-9144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371600" y="4059936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◀  Geri Bildirim (Reed Switch / Basınç Sensörü)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600200" y="1234440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Dijital/Analog Sinyal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3383280" y="1234440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İşlenmiş Veri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212080" y="1234440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Dijital Çıkış Q0.x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949440" y="1234440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24V / Hava Komutu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182880" y="2468880"/>
            <a:ext cx="50292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AE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82880" y="2468880"/>
            <a:ext cx="64008" cy="59436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38328" y="251460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PLC Çıkış Tipi: 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1600200" y="25146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Transistör (PNP/NPN) veya Röle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182880" y="3127248"/>
            <a:ext cx="50292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AE6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82880" y="3127248"/>
            <a:ext cx="64008" cy="59436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38328" y="3172968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Sinyal Gerilimi: 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1600200" y="317296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24V DC Dijital (0V = OFF, 24V = ON)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182880" y="3785616"/>
            <a:ext cx="50292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AE6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82880" y="3785616"/>
            <a:ext cx="64008" cy="59436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38328" y="3831336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 Eleman: 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1600200" y="3831336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Solenoid valf sürücüsü (entegre/harici)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2743200"/>
            <a:ext cx="3200400" cy="3200400"/>
          </a:xfrm>
          <a:prstGeom prst="ellipse">
            <a:avLst/>
          </a:prstGeom>
          <a:solidFill>
            <a:srgbClr val="1A2E4A">
              <a:alpha val="50000"/>
            </a:srgbClr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ÖZET &amp; SONUÇ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4114800" cy="36576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97280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Pnömatik aktüatörler, basınçlı hava ile hızlı ve güvenilir doğrusal/dairesel hareket sağlar.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74320" y="1737360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PLC çıkış modülü (transistör/röle) → Solenoid valf → Silindir zinciriyle kontrol edilir.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4320" y="2377440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PLC yalnızca küçük dijital sinyal (24V DC) üretir; güç yönetimi solenoid valf ünitesine aittir.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4320" y="3017520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Valf adaları (valve islands) çok eksenli sistemlerde kablo sayısını minimize eder.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74320" y="3657600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Reed switch ve basınç sensörleri ile kapalı döngü geri bildirim sağlanabilir.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74320" y="4297680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Endüstride paketleme, montaj, robotik, pres ve konveyör sistemlerinde yaygın kullanılır.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13" name="Text 11"/>
          <p:cNvSpPr/>
          <p:nvPr/>
        </p:nvSpPr>
        <p:spPr>
          <a:xfrm>
            <a:off x="274320" y="4864608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İlyas Sabri (Eiad Saif)  |  Otomasyon Sistemleri  |  Samsun Üniversitesi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Pnömatik Aktüatörler ve PLC Bütünleşimi</dc:title>
  <dc:subject>PptxGenJS Presentation</dc:subject>
  <dc:creator>Otomasyon Sistemleri Ödevi</dc:creator>
  <cp:lastModifiedBy>Otomasyon Sistemleri Ödevi</cp:lastModifiedBy>
  <cp:revision>1</cp:revision>
  <dcterms:created xsi:type="dcterms:W3CDTF">2026-04-26T01:25:03Z</dcterms:created>
  <dcterms:modified xsi:type="dcterms:W3CDTF">2026-04-26T01:25:03Z</dcterms:modified>
</cp:coreProperties>
</file>