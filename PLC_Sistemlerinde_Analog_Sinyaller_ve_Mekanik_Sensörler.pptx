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35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3" name="Shape 0"/>
          <p:cNvSpPr/>
          <p:nvPr/>
        </p:nvSpPr>
        <p:spPr>
          <a:xfrm>
            <a:off x="57150" y="57150"/>
            <a:ext cx="9858375" cy="5143500"/>
          </a:xfrm>
          <a:prstGeom prst="rect">
            <a:avLst/>
          </a:prstGeom>
          <a:solidFill>
            <a:srgbClr val="E2E8F0"/>
          </a:solidFill>
          <a:ln/>
        </p:spPr>
        <p:txBody>
          <a:bodyPr/>
          <a:lstStyle/>
          <a:p>
            <a:endParaRPr lang="en-US"/>
          </a:p>
        </p:txBody>
      </p:sp>
      <p:sp>
        <p:nvSpPr>
          <p:cNvPr id="4" name="Text 1"/>
          <p:cNvSpPr/>
          <p:nvPr/>
        </p:nvSpPr>
        <p:spPr>
          <a:xfrm>
            <a:off x="771525" y="899861"/>
            <a:ext cx="6429375" cy="1508727"/>
          </a:xfrm>
          <a:prstGeom prst="rect">
            <a:avLst/>
          </a:prstGeom>
          <a:noFill/>
          <a:ln/>
        </p:spPr>
        <p:txBody>
          <a:bodyPr wrap="square" lIns="0" tIns="0" rIns="0" bIns="0" rtlCol="0" anchor="t">
            <a:spAutoFit/>
          </a:bodyPr>
          <a:lstStyle/>
          <a:p>
            <a:pPr marL="0" indent="0" algn="l">
              <a:lnSpc>
                <a:spcPts val="4000"/>
              </a:lnSpc>
              <a:buNone/>
            </a:pPr>
            <a:r>
              <a:rPr lang="en-US" sz="3294" b="1" dirty="0">
                <a:solidFill>
                  <a:srgbClr val="0F172A"/>
                </a:solidFill>
                <a:latin typeface="Montserrat" pitchFamily="34" charset="0"/>
                <a:ea typeface="Montserrat" pitchFamily="34" charset="-122"/>
                <a:cs typeface="Montserrat" pitchFamily="34" charset="-120"/>
              </a:rPr>
              <a:t>PLC SISTEMLERINDE ANALOG SINYALLER VE MEKANIK SENSÖRLER</a:t>
            </a:r>
            <a:endParaRPr lang="en-US" sz="3294" dirty="0"/>
          </a:p>
        </p:txBody>
      </p:sp>
      <p:sp>
        <p:nvSpPr>
          <p:cNvPr id="5" name="Text 2"/>
          <p:cNvSpPr/>
          <p:nvPr/>
        </p:nvSpPr>
        <p:spPr>
          <a:xfrm>
            <a:off x="771525" y="2551463"/>
            <a:ext cx="6429375" cy="27682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4338CA"/>
                </a:solidFill>
                <a:latin typeface="Inter" pitchFamily="34" charset="0"/>
                <a:ea typeface="Inter" pitchFamily="34" charset="-122"/>
                <a:cs typeface="Inter" pitchFamily="34" charset="-120"/>
              </a:rPr>
              <a:t>Endüstriyel Otomasyon ve Kontrol Sistemleri Ödevi</a:t>
            </a:r>
            <a:endParaRPr lang="en-US" sz="1602" dirty="0"/>
          </a:p>
        </p:txBody>
      </p:sp>
      <p:sp>
        <p:nvSpPr>
          <p:cNvPr id="6" name="Shape 3"/>
          <p:cNvSpPr/>
          <p:nvPr/>
        </p:nvSpPr>
        <p:spPr>
          <a:xfrm>
            <a:off x="771525" y="3256908"/>
            <a:ext cx="3911203" cy="1407319"/>
          </a:xfrm>
          <a:prstGeom prst="rect">
            <a:avLst/>
          </a:prstGeom>
          <a:solidFill>
            <a:srgbClr val="FFFFFF"/>
          </a:solidFill>
          <a:ln/>
        </p:spPr>
        <p:txBody>
          <a:bodyPr/>
          <a:lstStyle/>
          <a:p>
            <a:endParaRPr lang="en-US"/>
          </a:p>
        </p:txBody>
      </p:sp>
      <p:sp>
        <p:nvSpPr>
          <p:cNvPr id="7" name="Shape 4"/>
          <p:cNvSpPr/>
          <p:nvPr/>
        </p:nvSpPr>
        <p:spPr>
          <a:xfrm>
            <a:off x="771525" y="3256908"/>
            <a:ext cx="42863" cy="1407319"/>
          </a:xfrm>
          <a:prstGeom prst="rect">
            <a:avLst/>
          </a:prstGeom>
          <a:solidFill>
            <a:srgbClr val="059669"/>
          </a:solidFill>
          <a:ln/>
        </p:spPr>
        <p:txBody>
          <a:bodyPr/>
          <a:lstStyle/>
          <a:p>
            <a:endParaRPr lang="en-US"/>
          </a:p>
        </p:txBody>
      </p:sp>
      <p:sp>
        <p:nvSpPr>
          <p:cNvPr id="8" name="Text 5"/>
          <p:cNvSpPr/>
          <p:nvPr/>
        </p:nvSpPr>
        <p:spPr>
          <a:xfrm>
            <a:off x="985838" y="3471221"/>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Hazırlayan:</a:t>
            </a:r>
            <a:r>
              <a:rPr lang="en-US" sz="1050" dirty="0">
                <a:solidFill>
                  <a:srgbClr val="475569"/>
                </a:solidFill>
                <a:latin typeface="Inter" pitchFamily="34" charset="0"/>
                <a:ea typeface="Inter" pitchFamily="34" charset="-122"/>
                <a:cs typeface="Inter" pitchFamily="34" charset="-120"/>
              </a:rPr>
              <a:t> MOHAMMED MASHHOR ALMASHHOR</a:t>
            </a:r>
            <a:endParaRPr lang="en-US" sz="987" dirty="0"/>
          </a:p>
        </p:txBody>
      </p:sp>
      <p:sp>
        <p:nvSpPr>
          <p:cNvPr id="9" name="Text 6"/>
          <p:cNvSpPr/>
          <p:nvPr/>
        </p:nvSpPr>
        <p:spPr>
          <a:xfrm>
            <a:off x="985838" y="3715894"/>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Öğrenci No:</a:t>
            </a:r>
            <a:r>
              <a:rPr lang="en-US" sz="1050" dirty="0">
                <a:solidFill>
                  <a:srgbClr val="475569"/>
                </a:solidFill>
                <a:latin typeface="Inter" pitchFamily="34" charset="0"/>
                <a:ea typeface="Inter" pitchFamily="34" charset="-122"/>
                <a:cs typeface="Inter" pitchFamily="34" charset="-120"/>
              </a:rPr>
              <a:t> 9211118091</a:t>
            </a:r>
            <a:endParaRPr lang="en-US" sz="987" dirty="0"/>
          </a:p>
        </p:txBody>
      </p:sp>
      <p:sp>
        <p:nvSpPr>
          <p:cNvPr id="10" name="Text 7"/>
          <p:cNvSpPr/>
          <p:nvPr/>
        </p:nvSpPr>
        <p:spPr>
          <a:xfrm>
            <a:off x="985838" y="3960568"/>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Ders:</a:t>
            </a:r>
            <a:r>
              <a:rPr lang="en-US" sz="1050" dirty="0">
                <a:solidFill>
                  <a:srgbClr val="475569"/>
                </a:solidFill>
                <a:latin typeface="Inter" pitchFamily="34" charset="0"/>
                <a:ea typeface="Inter" pitchFamily="34" charset="-122"/>
                <a:cs typeface="Inter" pitchFamily="34" charset="-120"/>
              </a:rPr>
              <a:t> Otomasyon Sistemleri</a:t>
            </a:r>
            <a:endParaRPr lang="en-US" sz="987" dirty="0"/>
          </a:p>
        </p:txBody>
      </p:sp>
      <p:sp>
        <p:nvSpPr>
          <p:cNvPr id="11" name="Text 8"/>
          <p:cNvSpPr/>
          <p:nvPr/>
        </p:nvSpPr>
        <p:spPr>
          <a:xfrm>
            <a:off x="985838" y="4205241"/>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Eğitmen:</a:t>
            </a:r>
            <a:r>
              <a:rPr lang="en-US" sz="1050" dirty="0">
                <a:solidFill>
                  <a:srgbClr val="475569"/>
                </a:solidFill>
                <a:latin typeface="Inter" pitchFamily="34" charset="0"/>
                <a:ea typeface="Inter" pitchFamily="34" charset="-122"/>
                <a:cs typeface="Inter" pitchFamily="34" charset="-120"/>
              </a:rPr>
              <a:t> Dr. İLYAS SABRİ (Eiad SAIF)</a:t>
            </a:r>
            <a:endParaRPr lang="en-US" sz="98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713231"/>
            <a:ext cx="8429625" cy="417909"/>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F172A"/>
                </a:solidFill>
                <a:latin typeface="Montserrat" pitchFamily="34" charset="0"/>
                <a:ea typeface="Montserrat" pitchFamily="34" charset="-122"/>
                <a:cs typeface="Montserrat" pitchFamily="34" charset="-120"/>
              </a:rPr>
              <a:t>SUNUM İÇERIĞI</a:t>
            </a:r>
            <a:endParaRPr lang="en-US" sz="2436" dirty="0"/>
          </a:p>
        </p:txBody>
      </p:sp>
      <p:sp>
        <p:nvSpPr>
          <p:cNvPr id="4" name="Text 1"/>
          <p:cNvSpPr/>
          <p:nvPr/>
        </p:nvSpPr>
        <p:spPr>
          <a:xfrm>
            <a:off x="900113" y="1427606"/>
            <a:ext cx="402907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Inter" pitchFamily="34" charset="0"/>
                <a:ea typeface="Inter" pitchFamily="34" charset="-122"/>
                <a:cs typeface="Inter" pitchFamily="34" charset="-120"/>
              </a:rPr>
              <a:t>Giriş:</a:t>
            </a:r>
            <a:r>
              <a:rPr lang="en-US" sz="1193" b="1" dirty="0">
                <a:solidFill>
                  <a:srgbClr val="475569"/>
                </a:solidFill>
                <a:latin typeface="Inter" pitchFamily="34" charset="0"/>
                <a:ea typeface="Inter" pitchFamily="34" charset="-122"/>
                <a:cs typeface="Inter" pitchFamily="34" charset="-120"/>
              </a:rPr>
              <a:t> PLC Sistemlerinde Analog ve Dijital Kontrol</a:t>
            </a:r>
            <a:endParaRPr lang="en-US" sz="1193" dirty="0"/>
          </a:p>
        </p:txBody>
      </p:sp>
      <p:sp>
        <p:nvSpPr>
          <p:cNvPr id="5" name="Text 2"/>
          <p:cNvSpPr/>
          <p:nvPr/>
        </p:nvSpPr>
        <p:spPr>
          <a:xfrm>
            <a:off x="900113" y="1813368"/>
            <a:ext cx="4307681"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Inter" pitchFamily="34" charset="0"/>
                <a:ea typeface="Inter" pitchFamily="34" charset="-122"/>
                <a:cs typeface="Inter" pitchFamily="34" charset="-120"/>
              </a:rPr>
              <a:t>Bölüm 1:</a:t>
            </a:r>
            <a:r>
              <a:rPr lang="en-US" sz="1193" b="1" dirty="0">
                <a:solidFill>
                  <a:srgbClr val="475569"/>
                </a:solidFill>
                <a:latin typeface="Inter" pitchFamily="34" charset="0"/>
                <a:ea typeface="Inter" pitchFamily="34" charset="-122"/>
                <a:cs typeface="Inter" pitchFamily="34" charset="-120"/>
              </a:rPr>
              <a:t> 4–20 mA Analog Giriş Sinyali ve Avantajları</a:t>
            </a:r>
            <a:endParaRPr lang="en-US" sz="1193" dirty="0"/>
          </a:p>
        </p:txBody>
      </p:sp>
      <p:sp>
        <p:nvSpPr>
          <p:cNvPr id="6" name="Text 3"/>
          <p:cNvSpPr/>
          <p:nvPr/>
        </p:nvSpPr>
        <p:spPr>
          <a:xfrm>
            <a:off x="900113" y="2199131"/>
            <a:ext cx="4159448"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Inter" pitchFamily="34" charset="0"/>
                <a:ea typeface="Inter" pitchFamily="34" charset="-122"/>
                <a:cs typeface="Inter" pitchFamily="34" charset="-120"/>
              </a:rPr>
              <a:t>Bölüm 2:</a:t>
            </a:r>
            <a:r>
              <a:rPr lang="en-US" sz="1193" b="1" dirty="0">
                <a:solidFill>
                  <a:srgbClr val="475569"/>
                </a:solidFill>
                <a:latin typeface="Inter" pitchFamily="34" charset="0"/>
                <a:ea typeface="Inter" pitchFamily="34" charset="-122"/>
                <a:cs typeface="Inter" pitchFamily="34" charset="-120"/>
              </a:rPr>
              <a:t> Mekanik Sensörler ve PLC Entegrasyonu</a:t>
            </a:r>
            <a:endParaRPr lang="en-US" sz="1193" dirty="0"/>
          </a:p>
        </p:txBody>
      </p:sp>
      <p:sp>
        <p:nvSpPr>
          <p:cNvPr id="7" name="Text 4"/>
          <p:cNvSpPr/>
          <p:nvPr/>
        </p:nvSpPr>
        <p:spPr>
          <a:xfrm>
            <a:off x="900113" y="2584893"/>
            <a:ext cx="4348758"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Inter" pitchFamily="34" charset="0"/>
                <a:ea typeface="Inter" pitchFamily="34" charset="-122"/>
                <a:cs typeface="Inter" pitchFamily="34" charset="-120"/>
              </a:rPr>
              <a:t>Uygulama:</a:t>
            </a:r>
            <a:r>
              <a:rPr lang="en-US" sz="1193" b="1" dirty="0">
                <a:solidFill>
                  <a:srgbClr val="475569"/>
                </a:solidFill>
                <a:latin typeface="Inter" pitchFamily="34" charset="0"/>
                <a:ea typeface="Inter" pitchFamily="34" charset="-122"/>
                <a:cs typeface="Inter" pitchFamily="34" charset="-120"/>
              </a:rPr>
              <a:t> Basınç Sensörü ve Limit Switch Örnekleri</a:t>
            </a:r>
            <a:endParaRPr lang="en-US" sz="1193" dirty="0"/>
          </a:p>
        </p:txBody>
      </p:sp>
      <p:sp>
        <p:nvSpPr>
          <p:cNvPr id="8" name="Text 5"/>
          <p:cNvSpPr/>
          <p:nvPr/>
        </p:nvSpPr>
        <p:spPr>
          <a:xfrm>
            <a:off x="900113" y="2970656"/>
            <a:ext cx="369510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Inter" pitchFamily="34" charset="0"/>
                <a:ea typeface="Inter" pitchFamily="34" charset="-122"/>
                <a:cs typeface="Inter" pitchFamily="34" charset="-120"/>
              </a:rPr>
              <a:t>Sonuç:</a:t>
            </a:r>
            <a:r>
              <a:rPr lang="en-US" sz="1193" b="1" dirty="0">
                <a:solidFill>
                  <a:srgbClr val="475569"/>
                </a:solidFill>
                <a:latin typeface="Inter" pitchFamily="34" charset="0"/>
                <a:ea typeface="Inter" pitchFamily="34" charset="-122"/>
                <a:cs typeface="Inter" pitchFamily="34" charset="-120"/>
              </a:rPr>
              <a:t> Endüstriyel Otomasyonda Veri İletimi</a:t>
            </a:r>
            <a:endParaRPr lang="en-US" sz="119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6214"/>
            <a:ext cx="8572500" cy="366117"/>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F172A"/>
                </a:solidFill>
                <a:latin typeface="Montserrat" pitchFamily="34" charset="0"/>
                <a:ea typeface="Montserrat" pitchFamily="34" charset="-122"/>
                <a:cs typeface="Montserrat" pitchFamily="34" charset="-120"/>
              </a:rPr>
              <a:t>4–20 MA SINYALININ ÇALIŞMA MANTIĞI</a:t>
            </a:r>
            <a:endParaRPr lang="en-US" sz="2121" dirty="0"/>
          </a:p>
        </p:txBody>
      </p:sp>
      <p:sp>
        <p:nvSpPr>
          <p:cNvPr id="4" name="Shape 1"/>
          <p:cNvSpPr/>
          <p:nvPr/>
        </p:nvSpPr>
        <p:spPr>
          <a:xfrm>
            <a:off x="571500" y="1186644"/>
            <a:ext cx="4143375" cy="1125141"/>
          </a:xfrm>
          <a:prstGeom prst="rect">
            <a:avLst/>
          </a:prstGeom>
          <a:solidFill>
            <a:srgbClr val="FFFFFF"/>
          </a:solidFill>
          <a:ln/>
        </p:spPr>
        <p:txBody>
          <a:bodyPr/>
          <a:lstStyle/>
          <a:p>
            <a:endParaRPr lang="en-US"/>
          </a:p>
        </p:txBody>
      </p:sp>
      <p:sp>
        <p:nvSpPr>
          <p:cNvPr id="5" name="Shape 2"/>
          <p:cNvSpPr/>
          <p:nvPr/>
        </p:nvSpPr>
        <p:spPr>
          <a:xfrm>
            <a:off x="571500" y="1186644"/>
            <a:ext cx="42863" cy="1125141"/>
          </a:xfrm>
          <a:prstGeom prst="rect">
            <a:avLst/>
          </a:prstGeom>
          <a:solidFill>
            <a:srgbClr val="4338CA"/>
          </a:solidFill>
          <a:ln/>
        </p:spPr>
        <p:txBody>
          <a:bodyPr/>
          <a:lstStyle/>
          <a:p>
            <a:endParaRPr lang="en-US"/>
          </a:p>
        </p:txBody>
      </p:sp>
      <p:sp>
        <p:nvSpPr>
          <p:cNvPr id="6" name="Text 3"/>
          <p:cNvSpPr/>
          <p:nvPr/>
        </p:nvSpPr>
        <p:spPr>
          <a:xfrm>
            <a:off x="750094" y="1329519"/>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Akım Döngüsü Prensibi</a:t>
            </a:r>
            <a:endParaRPr lang="en-US" sz="1090" dirty="0"/>
          </a:p>
        </p:txBody>
      </p:sp>
      <p:sp>
        <p:nvSpPr>
          <p:cNvPr id="7" name="Text 4"/>
          <p:cNvSpPr/>
          <p:nvPr/>
        </p:nvSpPr>
        <p:spPr>
          <a:xfrm>
            <a:off x="750094" y="1590266"/>
            <a:ext cx="3786188" cy="528638"/>
          </a:xfrm>
          <a:prstGeom prst="rect">
            <a:avLst/>
          </a:prstGeom>
          <a:noFill/>
          <a:ln/>
        </p:spPr>
        <p:txBody>
          <a:bodyPr wrap="square" lIns="0" tIns="0" rIns="0" bIns="170053"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Sensör verileri, kapalı bir döngü içindeki elektrik akımının şiddetiyle iletilir. Akım, voltajın aksine mesafeden bağımsızdır.</a:t>
            </a:r>
            <a:endParaRPr lang="en-US" sz="942" dirty="0"/>
          </a:p>
        </p:txBody>
      </p:sp>
      <p:sp>
        <p:nvSpPr>
          <p:cNvPr id="8" name="Shape 5"/>
          <p:cNvSpPr/>
          <p:nvPr/>
        </p:nvSpPr>
        <p:spPr>
          <a:xfrm>
            <a:off x="571500" y="2297497"/>
            <a:ext cx="4143375" cy="932259"/>
          </a:xfrm>
          <a:prstGeom prst="rect">
            <a:avLst/>
          </a:prstGeom>
          <a:solidFill>
            <a:srgbClr val="FFFFFF"/>
          </a:solidFill>
          <a:ln/>
        </p:spPr>
        <p:txBody>
          <a:bodyPr/>
          <a:lstStyle/>
          <a:p>
            <a:endParaRPr lang="en-US"/>
          </a:p>
        </p:txBody>
      </p:sp>
      <p:sp>
        <p:nvSpPr>
          <p:cNvPr id="9" name="Shape 6"/>
          <p:cNvSpPr/>
          <p:nvPr/>
        </p:nvSpPr>
        <p:spPr>
          <a:xfrm>
            <a:off x="571500" y="2297497"/>
            <a:ext cx="42863" cy="932259"/>
          </a:xfrm>
          <a:prstGeom prst="rect">
            <a:avLst/>
          </a:prstGeom>
          <a:solidFill>
            <a:srgbClr val="059669"/>
          </a:solidFill>
          <a:ln/>
        </p:spPr>
        <p:txBody>
          <a:bodyPr/>
          <a:lstStyle/>
          <a:p>
            <a:endParaRPr lang="en-US"/>
          </a:p>
        </p:txBody>
      </p:sp>
      <p:sp>
        <p:nvSpPr>
          <p:cNvPr id="10" name="Text 7"/>
          <p:cNvSpPr/>
          <p:nvPr/>
        </p:nvSpPr>
        <p:spPr>
          <a:xfrm>
            <a:off x="750094" y="2440372"/>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Ölçeklendirme (Scaling)</a:t>
            </a:r>
            <a:endParaRPr lang="en-US" sz="1090" dirty="0"/>
          </a:p>
        </p:txBody>
      </p:sp>
      <p:sp>
        <p:nvSpPr>
          <p:cNvPr id="11" name="Text 8"/>
          <p:cNvSpPr/>
          <p:nvPr/>
        </p:nvSpPr>
        <p:spPr>
          <a:xfrm>
            <a:off x="750094" y="2701119"/>
            <a:ext cx="3786188" cy="528638"/>
          </a:xfrm>
          <a:prstGeom prst="rect">
            <a:avLst/>
          </a:prstGeom>
          <a:noFill/>
          <a:ln/>
        </p:spPr>
        <p:txBody>
          <a:bodyPr wrap="square" lIns="0" tIns="0" rIns="0" bIns="170053"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4 mA minimum değeri (%0), 20 mA ise maksimum değeri (%100) temsil eder. Aradaki değerler lineer olarak değişir.</a:t>
            </a:r>
            <a:endParaRPr lang="en-US" sz="942" dirty="0"/>
          </a:p>
        </p:txBody>
      </p:sp>
      <p:sp>
        <p:nvSpPr>
          <p:cNvPr id="12" name="Shape 9"/>
          <p:cNvSpPr/>
          <p:nvPr/>
        </p:nvSpPr>
        <p:spPr>
          <a:xfrm>
            <a:off x="571500" y="3408350"/>
            <a:ext cx="4143375" cy="932259"/>
          </a:xfrm>
          <a:prstGeom prst="rect">
            <a:avLst/>
          </a:prstGeom>
          <a:solidFill>
            <a:srgbClr val="FFFFFF"/>
          </a:solidFill>
          <a:ln/>
        </p:spPr>
        <p:txBody>
          <a:bodyPr/>
          <a:lstStyle/>
          <a:p>
            <a:endParaRPr lang="en-US"/>
          </a:p>
        </p:txBody>
      </p:sp>
      <p:sp>
        <p:nvSpPr>
          <p:cNvPr id="13" name="Shape 10"/>
          <p:cNvSpPr/>
          <p:nvPr/>
        </p:nvSpPr>
        <p:spPr>
          <a:xfrm>
            <a:off x="571500" y="3408350"/>
            <a:ext cx="42863" cy="932259"/>
          </a:xfrm>
          <a:prstGeom prst="rect">
            <a:avLst/>
          </a:prstGeom>
          <a:solidFill>
            <a:srgbClr val="4338CA"/>
          </a:solidFill>
          <a:ln/>
        </p:spPr>
        <p:txBody>
          <a:bodyPr/>
          <a:lstStyle/>
          <a:p>
            <a:endParaRPr lang="en-US"/>
          </a:p>
        </p:txBody>
      </p:sp>
      <p:sp>
        <p:nvSpPr>
          <p:cNvPr id="14" name="Text 11"/>
          <p:cNvSpPr/>
          <p:nvPr/>
        </p:nvSpPr>
        <p:spPr>
          <a:xfrm>
            <a:off x="750094" y="3551225"/>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"Live Zero" (Canlı Sıfır)</a:t>
            </a:r>
            <a:endParaRPr lang="en-US" sz="1090" dirty="0"/>
          </a:p>
        </p:txBody>
      </p:sp>
      <p:sp>
        <p:nvSpPr>
          <p:cNvPr id="15" name="Text 12"/>
          <p:cNvSpPr/>
          <p:nvPr/>
        </p:nvSpPr>
        <p:spPr>
          <a:xfrm>
            <a:off x="750094" y="3811972"/>
            <a:ext cx="3786188" cy="528638"/>
          </a:xfrm>
          <a:prstGeom prst="rect">
            <a:avLst/>
          </a:prstGeom>
          <a:noFill/>
          <a:ln/>
        </p:spPr>
        <p:txBody>
          <a:bodyPr wrap="square" lIns="0" tIns="0" rIns="0" bIns="170053"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Başlangıcın 0 yerine 4 mA olması, sistemin aktif olduğunu kanıtlar. 0 mA ölçülmesi, bir arıza veya kopukluk sinyalidir.</a:t>
            </a:r>
            <a:endParaRPr lang="en-US" sz="942" dirty="0"/>
          </a:p>
        </p:txBody>
      </p:sp>
      <p:pic>
        <p:nvPicPr>
          <p:cNvPr id="16" name="Image 1" descr="preencoded.png"/>
          <p:cNvPicPr>
            <a:picLocks noChangeAspect="1"/>
          </p:cNvPicPr>
          <p:nvPr/>
        </p:nvPicPr>
        <p:blipFill>
          <a:blip r:embed="rId4"/>
          <a:stretch>
            <a:fillRect/>
          </a:stretch>
        </p:blipFill>
        <p:spPr>
          <a:xfrm>
            <a:off x="5000625" y="1329519"/>
            <a:ext cx="3571875" cy="11559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6214"/>
            <a:ext cx="8572500" cy="366117"/>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F172A"/>
                </a:solidFill>
                <a:latin typeface="Montserrat" pitchFamily="34" charset="0"/>
                <a:ea typeface="Montserrat" pitchFamily="34" charset="-122"/>
                <a:cs typeface="Montserrat" pitchFamily="34" charset="-120"/>
              </a:rPr>
              <a:t>NEDEN GERILIM YERINE AKIM SINYALI?</a:t>
            </a:r>
            <a:endParaRPr lang="en-US" sz="2121" dirty="0"/>
          </a:p>
        </p:txBody>
      </p:sp>
      <p:sp>
        <p:nvSpPr>
          <p:cNvPr id="4" name="Shape 1"/>
          <p:cNvSpPr/>
          <p:nvPr/>
        </p:nvSpPr>
        <p:spPr>
          <a:xfrm>
            <a:off x="571500" y="1186644"/>
            <a:ext cx="4143375" cy="1017984"/>
          </a:xfrm>
          <a:prstGeom prst="rect">
            <a:avLst/>
          </a:prstGeom>
          <a:solidFill>
            <a:srgbClr val="FFFFFF"/>
          </a:solidFill>
          <a:ln/>
        </p:spPr>
        <p:txBody>
          <a:bodyPr/>
          <a:lstStyle/>
          <a:p>
            <a:endParaRPr lang="en-US"/>
          </a:p>
        </p:txBody>
      </p:sp>
      <p:sp>
        <p:nvSpPr>
          <p:cNvPr id="5" name="Shape 2"/>
          <p:cNvSpPr/>
          <p:nvPr/>
        </p:nvSpPr>
        <p:spPr>
          <a:xfrm>
            <a:off x="571500" y="1186644"/>
            <a:ext cx="42863" cy="1017984"/>
          </a:xfrm>
          <a:prstGeom prst="rect">
            <a:avLst/>
          </a:prstGeom>
          <a:solidFill>
            <a:srgbClr val="4338CA"/>
          </a:solidFill>
          <a:ln/>
        </p:spPr>
        <p:txBody>
          <a:bodyPr/>
          <a:lstStyle/>
          <a:p>
            <a:endParaRPr lang="en-US"/>
          </a:p>
        </p:txBody>
      </p:sp>
      <p:sp>
        <p:nvSpPr>
          <p:cNvPr id="6" name="Text 3"/>
          <p:cNvSpPr/>
          <p:nvPr/>
        </p:nvSpPr>
        <p:spPr>
          <a:xfrm>
            <a:off x="750094" y="1329519"/>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Mesafe ve Direnç Etkisi</a:t>
            </a:r>
            <a:endParaRPr lang="en-US" sz="1090" dirty="0"/>
          </a:p>
        </p:txBody>
      </p:sp>
      <p:sp>
        <p:nvSpPr>
          <p:cNvPr id="7" name="Text 4"/>
          <p:cNvSpPr/>
          <p:nvPr/>
        </p:nvSpPr>
        <p:spPr>
          <a:xfrm>
            <a:off x="750094" y="1590266"/>
            <a:ext cx="3786188" cy="614363"/>
          </a:xfrm>
          <a:prstGeom prst="rect">
            <a:avLst/>
          </a:prstGeom>
          <a:noFill/>
          <a:ln/>
        </p:spPr>
        <p:txBody>
          <a:bodyPr wrap="square" lIns="0" tIns="42545" rIns="0" bIns="0"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Gerilim sinyalleri (0-10V), kablo direnci nedeniyle uzun mesafelerde düşer. Akım ise seri devrede her noktada aynıdır, kayıp yaşanmaz.</a:t>
            </a:r>
            <a:endParaRPr lang="en-US" sz="942" dirty="0"/>
          </a:p>
        </p:txBody>
      </p:sp>
      <p:sp>
        <p:nvSpPr>
          <p:cNvPr id="8" name="Shape 5"/>
          <p:cNvSpPr/>
          <p:nvPr/>
        </p:nvSpPr>
        <p:spPr>
          <a:xfrm>
            <a:off x="571500" y="2383222"/>
            <a:ext cx="4143375" cy="1017984"/>
          </a:xfrm>
          <a:prstGeom prst="rect">
            <a:avLst/>
          </a:prstGeom>
          <a:solidFill>
            <a:srgbClr val="FFFFFF"/>
          </a:solidFill>
          <a:ln/>
        </p:spPr>
        <p:txBody>
          <a:bodyPr/>
          <a:lstStyle/>
          <a:p>
            <a:endParaRPr lang="en-US"/>
          </a:p>
        </p:txBody>
      </p:sp>
      <p:sp>
        <p:nvSpPr>
          <p:cNvPr id="9" name="Shape 6"/>
          <p:cNvSpPr/>
          <p:nvPr/>
        </p:nvSpPr>
        <p:spPr>
          <a:xfrm>
            <a:off x="571500" y="2383222"/>
            <a:ext cx="42863" cy="1017984"/>
          </a:xfrm>
          <a:prstGeom prst="rect">
            <a:avLst/>
          </a:prstGeom>
          <a:solidFill>
            <a:srgbClr val="059669"/>
          </a:solidFill>
          <a:ln/>
        </p:spPr>
        <p:txBody>
          <a:bodyPr/>
          <a:lstStyle/>
          <a:p>
            <a:endParaRPr lang="en-US"/>
          </a:p>
        </p:txBody>
      </p:sp>
      <p:sp>
        <p:nvSpPr>
          <p:cNvPr id="10" name="Text 7"/>
          <p:cNvSpPr/>
          <p:nvPr/>
        </p:nvSpPr>
        <p:spPr>
          <a:xfrm>
            <a:off x="750094" y="2526097"/>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Gürültü Bağışıklığı (EMI)</a:t>
            </a:r>
            <a:endParaRPr lang="en-US" sz="1090" dirty="0"/>
          </a:p>
        </p:txBody>
      </p:sp>
      <p:sp>
        <p:nvSpPr>
          <p:cNvPr id="11" name="Text 8"/>
          <p:cNvSpPr/>
          <p:nvPr/>
        </p:nvSpPr>
        <p:spPr>
          <a:xfrm>
            <a:off x="750094" y="2786844"/>
            <a:ext cx="3786188" cy="614363"/>
          </a:xfrm>
          <a:prstGeom prst="rect">
            <a:avLst/>
          </a:prstGeom>
          <a:noFill/>
          <a:ln/>
        </p:spPr>
        <p:txBody>
          <a:bodyPr wrap="square" lIns="0" tIns="42545" rIns="0" bIns="0"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Endüstriyel ortamlardaki motor ve sürücü kaynaklı elektromanyetik gürültüler, akım sinyalini gerilim sinyali kadar etkileyemez.</a:t>
            </a:r>
            <a:endParaRPr lang="en-US" sz="942" dirty="0"/>
          </a:p>
        </p:txBody>
      </p:sp>
      <p:sp>
        <p:nvSpPr>
          <p:cNvPr id="12" name="Shape 9"/>
          <p:cNvSpPr/>
          <p:nvPr/>
        </p:nvSpPr>
        <p:spPr>
          <a:xfrm>
            <a:off x="571500" y="3579800"/>
            <a:ext cx="4143375" cy="1017984"/>
          </a:xfrm>
          <a:prstGeom prst="rect">
            <a:avLst/>
          </a:prstGeom>
          <a:solidFill>
            <a:srgbClr val="FFFFFF"/>
          </a:solidFill>
          <a:ln/>
        </p:spPr>
        <p:txBody>
          <a:bodyPr/>
          <a:lstStyle/>
          <a:p>
            <a:endParaRPr lang="en-US"/>
          </a:p>
        </p:txBody>
      </p:sp>
      <p:sp>
        <p:nvSpPr>
          <p:cNvPr id="13" name="Shape 10"/>
          <p:cNvSpPr/>
          <p:nvPr/>
        </p:nvSpPr>
        <p:spPr>
          <a:xfrm>
            <a:off x="571500" y="3579800"/>
            <a:ext cx="42863" cy="1017984"/>
          </a:xfrm>
          <a:prstGeom prst="rect">
            <a:avLst/>
          </a:prstGeom>
          <a:solidFill>
            <a:srgbClr val="4338CA"/>
          </a:solidFill>
          <a:ln/>
        </p:spPr>
        <p:txBody>
          <a:bodyPr/>
          <a:lstStyle/>
          <a:p>
            <a:endParaRPr lang="en-US"/>
          </a:p>
        </p:txBody>
      </p:sp>
      <p:sp>
        <p:nvSpPr>
          <p:cNvPr id="14" name="Text 11"/>
          <p:cNvSpPr/>
          <p:nvPr/>
        </p:nvSpPr>
        <p:spPr>
          <a:xfrm>
            <a:off x="750094" y="3722675"/>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Kablolama ve Maliyet</a:t>
            </a:r>
            <a:endParaRPr lang="en-US" sz="1090" dirty="0"/>
          </a:p>
        </p:txBody>
      </p:sp>
      <p:sp>
        <p:nvSpPr>
          <p:cNvPr id="15" name="Text 12"/>
          <p:cNvSpPr/>
          <p:nvPr/>
        </p:nvSpPr>
        <p:spPr>
          <a:xfrm>
            <a:off x="750094" y="3983422"/>
            <a:ext cx="3786188" cy="614363"/>
          </a:xfrm>
          <a:prstGeom prst="rect">
            <a:avLst/>
          </a:prstGeom>
          <a:noFill/>
          <a:ln/>
        </p:spPr>
        <p:txBody>
          <a:bodyPr wrap="square" lIns="0" tIns="42545" rIns="0" bIns="0"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Akım döngüsü sistemleri genellikle 2 telli bağlantı ile hem güç hem sinyal taşır, bu da kurulum maliyetini ve karmaşıklığını azaltır.</a:t>
            </a:r>
            <a:endParaRPr lang="en-US" sz="942" dirty="0"/>
          </a:p>
        </p:txBody>
      </p:sp>
      <p:pic>
        <p:nvPicPr>
          <p:cNvPr id="16" name="Image 1" descr="preencoded.png"/>
          <p:cNvPicPr>
            <a:picLocks noChangeAspect="1"/>
          </p:cNvPicPr>
          <p:nvPr/>
        </p:nvPicPr>
        <p:blipFill>
          <a:blip r:embed="rId4"/>
          <a:stretch>
            <a:fillRect/>
          </a:stretch>
        </p:blipFill>
        <p:spPr>
          <a:xfrm>
            <a:off x="5000625" y="1329519"/>
            <a:ext cx="3571875" cy="228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713231"/>
            <a:ext cx="8429625" cy="417909"/>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F172A"/>
                </a:solidFill>
                <a:latin typeface="Montserrat" pitchFamily="34" charset="0"/>
                <a:ea typeface="Montserrat" pitchFamily="34" charset="-122"/>
                <a:cs typeface="Montserrat" pitchFamily="34" charset="-120"/>
              </a:rPr>
              <a:t>ENDÜSTRIDE SAĞLADIĞI AVANTAJLAR</a:t>
            </a:r>
            <a:endParaRPr lang="en-US" sz="2436" dirty="0"/>
          </a:p>
        </p:txBody>
      </p:sp>
      <p:sp>
        <p:nvSpPr>
          <p:cNvPr id="4" name="Shape 1"/>
          <p:cNvSpPr/>
          <p:nvPr/>
        </p:nvSpPr>
        <p:spPr>
          <a:xfrm>
            <a:off x="714375" y="1416890"/>
            <a:ext cx="3714750" cy="1643063"/>
          </a:xfrm>
          <a:prstGeom prst="rect">
            <a:avLst/>
          </a:prstGeom>
          <a:solidFill>
            <a:srgbClr val="FFFFFF"/>
          </a:solidFill>
          <a:ln/>
        </p:spPr>
        <p:txBody>
          <a:bodyPr/>
          <a:lstStyle/>
          <a:p>
            <a:endParaRPr lang="en-US"/>
          </a:p>
        </p:txBody>
      </p:sp>
      <p:sp>
        <p:nvSpPr>
          <p:cNvPr id="5" name="Shape 2"/>
          <p:cNvSpPr/>
          <p:nvPr/>
        </p:nvSpPr>
        <p:spPr>
          <a:xfrm>
            <a:off x="714375" y="1416890"/>
            <a:ext cx="42863" cy="1643063"/>
          </a:xfrm>
          <a:prstGeom prst="rect">
            <a:avLst/>
          </a:prstGeom>
          <a:solidFill>
            <a:srgbClr val="059669"/>
          </a:solidFill>
          <a:ln/>
        </p:spPr>
        <p:txBody>
          <a:bodyPr/>
          <a:lstStyle/>
          <a:p>
            <a:endParaRPr lang="en-US"/>
          </a:p>
        </p:txBody>
      </p:sp>
      <p:sp>
        <p:nvSpPr>
          <p:cNvPr id="6" name="Text 3"/>
          <p:cNvSpPr/>
          <p:nvPr/>
        </p:nvSpPr>
        <p:spPr>
          <a:xfrm>
            <a:off x="928688" y="1631203"/>
            <a:ext cx="3286125"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Montserrat" pitchFamily="34" charset="0"/>
                <a:ea typeface="Montserrat" pitchFamily="34" charset="-122"/>
                <a:cs typeface="Montserrat" pitchFamily="34" charset="-120"/>
              </a:rPr>
              <a:t>Gelişmiş Hata Tespiti</a:t>
            </a:r>
            <a:endParaRPr lang="en-US" sz="1193" dirty="0"/>
          </a:p>
        </p:txBody>
      </p:sp>
      <p:sp>
        <p:nvSpPr>
          <p:cNvPr id="7" name="Text 4"/>
          <p:cNvSpPr/>
          <p:nvPr/>
        </p:nvSpPr>
        <p:spPr>
          <a:xfrm>
            <a:off x="928688" y="1947314"/>
            <a:ext cx="3286125" cy="831466"/>
          </a:xfrm>
          <a:prstGeom prst="rect">
            <a:avLst/>
          </a:prstGeom>
          <a:noFill/>
          <a:ln/>
        </p:spPr>
        <p:txBody>
          <a:bodyPr wrap="square" lIns="0" tIns="0" rIns="0" bIns="255143" rtlCol="0" anchor="t">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4 mA altındaki değerler anında "Kablo Kopuk" hatası olarak algılanabilir. Bu özellik, kritik süreçlerde sistem güvenliğini maksimize eder.</a:t>
            </a:r>
            <a:endParaRPr lang="en-US" sz="942" dirty="0"/>
          </a:p>
        </p:txBody>
      </p:sp>
      <p:sp>
        <p:nvSpPr>
          <p:cNvPr id="8" name="Shape 5"/>
          <p:cNvSpPr/>
          <p:nvPr/>
        </p:nvSpPr>
        <p:spPr>
          <a:xfrm>
            <a:off x="4714875" y="1416890"/>
            <a:ext cx="3714750" cy="1643063"/>
          </a:xfrm>
          <a:prstGeom prst="rect">
            <a:avLst/>
          </a:prstGeom>
          <a:solidFill>
            <a:srgbClr val="FFFFFF"/>
          </a:solidFill>
          <a:ln/>
        </p:spPr>
        <p:txBody>
          <a:bodyPr/>
          <a:lstStyle/>
          <a:p>
            <a:endParaRPr lang="en-US"/>
          </a:p>
        </p:txBody>
      </p:sp>
      <p:sp>
        <p:nvSpPr>
          <p:cNvPr id="9" name="Shape 6"/>
          <p:cNvSpPr/>
          <p:nvPr/>
        </p:nvSpPr>
        <p:spPr>
          <a:xfrm>
            <a:off x="4714875" y="1416890"/>
            <a:ext cx="42863" cy="1643063"/>
          </a:xfrm>
          <a:prstGeom prst="rect">
            <a:avLst/>
          </a:prstGeom>
          <a:solidFill>
            <a:srgbClr val="4338CA"/>
          </a:solidFill>
          <a:ln/>
        </p:spPr>
        <p:txBody>
          <a:bodyPr/>
          <a:lstStyle/>
          <a:p>
            <a:endParaRPr lang="en-US"/>
          </a:p>
        </p:txBody>
      </p:sp>
      <p:sp>
        <p:nvSpPr>
          <p:cNvPr id="10" name="Text 7"/>
          <p:cNvSpPr/>
          <p:nvPr/>
        </p:nvSpPr>
        <p:spPr>
          <a:xfrm>
            <a:off x="4929188" y="1631203"/>
            <a:ext cx="3286125"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Montserrat" pitchFamily="34" charset="0"/>
                <a:ea typeface="Montserrat" pitchFamily="34" charset="-122"/>
                <a:cs typeface="Montserrat" pitchFamily="34" charset="-120"/>
              </a:rPr>
              <a:t>Uzun Mesafe İletimi</a:t>
            </a:r>
            <a:endParaRPr lang="en-US" sz="1193" dirty="0"/>
          </a:p>
        </p:txBody>
      </p:sp>
      <p:sp>
        <p:nvSpPr>
          <p:cNvPr id="11" name="Text 8"/>
          <p:cNvSpPr/>
          <p:nvPr/>
        </p:nvSpPr>
        <p:spPr>
          <a:xfrm>
            <a:off x="4929188" y="1947314"/>
            <a:ext cx="3286125" cy="831466"/>
          </a:xfrm>
          <a:prstGeom prst="rect">
            <a:avLst/>
          </a:prstGeom>
          <a:noFill/>
          <a:ln/>
        </p:spPr>
        <p:txBody>
          <a:bodyPr wrap="square" lIns="0" tIns="0" rIns="0" bIns="255143" rtlCol="0" anchor="t">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Sinyal kalitesi bozulmadan 1000 metreye kadar veri iletimi mümkündür. Kablo direnci akım şiddetini değiştirmediği için ölçüm hassasiyeti korunur.</a:t>
            </a:r>
            <a:endParaRPr lang="en-US" sz="942" dirty="0"/>
          </a:p>
        </p:txBody>
      </p:sp>
      <p:sp>
        <p:nvSpPr>
          <p:cNvPr id="12" name="Shape 9"/>
          <p:cNvSpPr/>
          <p:nvPr/>
        </p:nvSpPr>
        <p:spPr>
          <a:xfrm>
            <a:off x="714375" y="3345703"/>
            <a:ext cx="3714750" cy="1643063"/>
          </a:xfrm>
          <a:prstGeom prst="rect">
            <a:avLst/>
          </a:prstGeom>
          <a:solidFill>
            <a:srgbClr val="FFFFFF"/>
          </a:solidFill>
          <a:ln/>
        </p:spPr>
        <p:txBody>
          <a:bodyPr/>
          <a:lstStyle/>
          <a:p>
            <a:endParaRPr lang="en-US"/>
          </a:p>
        </p:txBody>
      </p:sp>
      <p:sp>
        <p:nvSpPr>
          <p:cNvPr id="13" name="Shape 10"/>
          <p:cNvSpPr/>
          <p:nvPr/>
        </p:nvSpPr>
        <p:spPr>
          <a:xfrm>
            <a:off x="714375" y="3345703"/>
            <a:ext cx="42863" cy="1643063"/>
          </a:xfrm>
          <a:prstGeom prst="rect">
            <a:avLst/>
          </a:prstGeom>
          <a:solidFill>
            <a:srgbClr val="4338CA"/>
          </a:solidFill>
          <a:ln/>
        </p:spPr>
        <p:txBody>
          <a:bodyPr/>
          <a:lstStyle/>
          <a:p>
            <a:endParaRPr lang="en-US"/>
          </a:p>
        </p:txBody>
      </p:sp>
      <p:sp>
        <p:nvSpPr>
          <p:cNvPr id="14" name="Text 11"/>
          <p:cNvSpPr/>
          <p:nvPr/>
        </p:nvSpPr>
        <p:spPr>
          <a:xfrm>
            <a:off x="928688" y="3560015"/>
            <a:ext cx="3286125"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Montserrat" pitchFamily="34" charset="0"/>
                <a:ea typeface="Montserrat" pitchFamily="34" charset="-122"/>
                <a:cs typeface="Montserrat" pitchFamily="34" charset="-120"/>
              </a:rPr>
              <a:t>Düşük Kurulum Maliyeti</a:t>
            </a:r>
            <a:endParaRPr lang="en-US" sz="1193" dirty="0"/>
          </a:p>
        </p:txBody>
      </p:sp>
      <p:sp>
        <p:nvSpPr>
          <p:cNvPr id="15" name="Text 12"/>
          <p:cNvSpPr/>
          <p:nvPr/>
        </p:nvSpPr>
        <p:spPr>
          <a:xfrm>
            <a:off x="928688" y="3876126"/>
            <a:ext cx="3286125" cy="831466"/>
          </a:xfrm>
          <a:prstGeom prst="rect">
            <a:avLst/>
          </a:prstGeom>
          <a:noFill/>
          <a:ln/>
        </p:spPr>
        <p:txBody>
          <a:bodyPr wrap="square" lIns="0" tIns="0" rIns="0" bIns="255143" rtlCol="0" anchor="t">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2-telli transmitterlar, enerjilerini aynı sinyal hattı üzerinden alarak ek kablolama ihtiyacını ortadan kaldırır ve işçilik maliyetlerini düşürür.</a:t>
            </a:r>
            <a:endParaRPr lang="en-US" sz="942" dirty="0"/>
          </a:p>
        </p:txBody>
      </p:sp>
      <p:sp>
        <p:nvSpPr>
          <p:cNvPr id="16" name="Shape 13"/>
          <p:cNvSpPr/>
          <p:nvPr/>
        </p:nvSpPr>
        <p:spPr>
          <a:xfrm>
            <a:off x="4714875" y="3345703"/>
            <a:ext cx="3714750" cy="1643063"/>
          </a:xfrm>
          <a:prstGeom prst="rect">
            <a:avLst/>
          </a:prstGeom>
          <a:solidFill>
            <a:srgbClr val="FFFFFF"/>
          </a:solidFill>
          <a:ln/>
        </p:spPr>
        <p:txBody>
          <a:bodyPr/>
          <a:lstStyle/>
          <a:p>
            <a:endParaRPr lang="en-US"/>
          </a:p>
        </p:txBody>
      </p:sp>
      <p:sp>
        <p:nvSpPr>
          <p:cNvPr id="17" name="Shape 14"/>
          <p:cNvSpPr/>
          <p:nvPr/>
        </p:nvSpPr>
        <p:spPr>
          <a:xfrm>
            <a:off x="4714875" y="3345703"/>
            <a:ext cx="42863" cy="1643063"/>
          </a:xfrm>
          <a:prstGeom prst="rect">
            <a:avLst/>
          </a:prstGeom>
          <a:solidFill>
            <a:srgbClr val="059669"/>
          </a:solidFill>
          <a:ln/>
        </p:spPr>
        <p:txBody>
          <a:bodyPr/>
          <a:lstStyle/>
          <a:p>
            <a:endParaRPr lang="en-US"/>
          </a:p>
        </p:txBody>
      </p:sp>
      <p:sp>
        <p:nvSpPr>
          <p:cNvPr id="18" name="Text 15"/>
          <p:cNvSpPr/>
          <p:nvPr/>
        </p:nvSpPr>
        <p:spPr>
          <a:xfrm>
            <a:off x="4929188" y="3560015"/>
            <a:ext cx="3286125"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4338CA"/>
                </a:solidFill>
                <a:latin typeface="Montserrat" pitchFamily="34" charset="0"/>
                <a:ea typeface="Montserrat" pitchFamily="34" charset="-122"/>
                <a:cs typeface="Montserrat" pitchFamily="34" charset="-120"/>
              </a:rPr>
              <a:t>Evrensel Standart</a:t>
            </a:r>
            <a:endParaRPr lang="en-US" sz="1193" dirty="0"/>
          </a:p>
        </p:txBody>
      </p:sp>
      <p:sp>
        <p:nvSpPr>
          <p:cNvPr id="19" name="Text 16"/>
          <p:cNvSpPr/>
          <p:nvPr/>
        </p:nvSpPr>
        <p:spPr>
          <a:xfrm>
            <a:off x="4929188" y="3876126"/>
            <a:ext cx="3286125" cy="831466"/>
          </a:xfrm>
          <a:prstGeom prst="rect">
            <a:avLst/>
          </a:prstGeom>
          <a:noFill/>
          <a:ln/>
        </p:spPr>
        <p:txBody>
          <a:bodyPr wrap="square" lIns="0" tIns="0" rIns="0" bIns="255143" rtlCol="0" anchor="t">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Dünya genelindeki tüm PLC ve kontrol cihazları ile tam uyumludur. Farklı marka cihazların birbirleriyle sorunsuz haberleşmesini sağlar.</a:t>
            </a:r>
            <a:endParaRPr lang="en-US" sz="94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6214"/>
            <a:ext cx="8572500" cy="366117"/>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F172A"/>
                </a:solidFill>
                <a:latin typeface="Montserrat" pitchFamily="34" charset="0"/>
                <a:ea typeface="Montserrat" pitchFamily="34" charset="-122"/>
                <a:cs typeface="Montserrat" pitchFamily="34" charset="-120"/>
              </a:rPr>
              <a:t>PLC VE SENSÖR BAĞLANTI ÖRNEKLERI</a:t>
            </a:r>
            <a:endParaRPr lang="en-US" sz="2121" dirty="0"/>
          </a:p>
        </p:txBody>
      </p:sp>
      <p:sp>
        <p:nvSpPr>
          <p:cNvPr id="4" name="Shape 1"/>
          <p:cNvSpPr/>
          <p:nvPr/>
        </p:nvSpPr>
        <p:spPr>
          <a:xfrm>
            <a:off x="571500" y="1186644"/>
            <a:ext cx="3893344" cy="924725"/>
          </a:xfrm>
          <a:prstGeom prst="rect">
            <a:avLst/>
          </a:prstGeom>
          <a:solidFill>
            <a:srgbClr val="FFFFFF"/>
          </a:solidFill>
          <a:ln/>
        </p:spPr>
        <p:txBody>
          <a:bodyPr/>
          <a:lstStyle/>
          <a:p>
            <a:endParaRPr lang="en-US"/>
          </a:p>
        </p:txBody>
      </p:sp>
      <p:sp>
        <p:nvSpPr>
          <p:cNvPr id="5" name="Shape 2"/>
          <p:cNvSpPr/>
          <p:nvPr/>
        </p:nvSpPr>
        <p:spPr>
          <a:xfrm>
            <a:off x="571500" y="1186644"/>
            <a:ext cx="42863" cy="924725"/>
          </a:xfrm>
          <a:prstGeom prst="rect">
            <a:avLst/>
          </a:prstGeom>
          <a:solidFill>
            <a:srgbClr val="4338CA"/>
          </a:solidFill>
          <a:ln/>
        </p:spPr>
        <p:txBody>
          <a:bodyPr/>
          <a:lstStyle/>
          <a:p>
            <a:endParaRPr lang="en-US"/>
          </a:p>
        </p:txBody>
      </p:sp>
      <p:sp>
        <p:nvSpPr>
          <p:cNvPr id="6" name="Text 3"/>
          <p:cNvSpPr/>
          <p:nvPr/>
        </p:nvSpPr>
        <p:spPr>
          <a:xfrm>
            <a:off x="714375" y="1293800"/>
            <a:ext cx="3607594"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2-Telli Bağlantı (Loop Powered)</a:t>
            </a:r>
            <a:endParaRPr lang="en-US" sz="987" dirty="0"/>
          </a:p>
        </p:txBody>
      </p:sp>
      <p:sp>
        <p:nvSpPr>
          <p:cNvPr id="7" name="Text 4"/>
          <p:cNvSpPr/>
          <p:nvPr/>
        </p:nvSpPr>
        <p:spPr>
          <a:xfrm>
            <a:off x="714375" y="1524186"/>
            <a:ext cx="3607594" cy="587183"/>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En yaygın yöntemdir. Sensör enerjisini PLC'nin analog girişinden gelen 24V DC üzerinden alır ve aynı hat üzerinden akımı modüle eder.</a:t>
            </a:r>
            <a:endParaRPr lang="en-US" sz="834" dirty="0"/>
          </a:p>
        </p:txBody>
      </p:sp>
      <p:sp>
        <p:nvSpPr>
          <p:cNvPr id="8" name="Shape 5"/>
          <p:cNvSpPr/>
          <p:nvPr/>
        </p:nvSpPr>
        <p:spPr>
          <a:xfrm>
            <a:off x="571500" y="2254244"/>
            <a:ext cx="3893344" cy="764716"/>
          </a:xfrm>
          <a:prstGeom prst="rect">
            <a:avLst/>
          </a:prstGeom>
          <a:solidFill>
            <a:srgbClr val="FFFFFF"/>
          </a:solidFill>
          <a:ln/>
        </p:spPr>
        <p:txBody>
          <a:bodyPr/>
          <a:lstStyle/>
          <a:p>
            <a:endParaRPr lang="en-US"/>
          </a:p>
        </p:txBody>
      </p:sp>
      <p:sp>
        <p:nvSpPr>
          <p:cNvPr id="9" name="Shape 6"/>
          <p:cNvSpPr/>
          <p:nvPr/>
        </p:nvSpPr>
        <p:spPr>
          <a:xfrm>
            <a:off x="571500" y="2254244"/>
            <a:ext cx="42863" cy="764716"/>
          </a:xfrm>
          <a:prstGeom prst="rect">
            <a:avLst/>
          </a:prstGeom>
          <a:solidFill>
            <a:srgbClr val="059669"/>
          </a:solidFill>
          <a:ln/>
        </p:spPr>
        <p:txBody>
          <a:bodyPr/>
          <a:lstStyle/>
          <a:p>
            <a:endParaRPr lang="en-US"/>
          </a:p>
        </p:txBody>
      </p:sp>
      <p:sp>
        <p:nvSpPr>
          <p:cNvPr id="10" name="Text 7"/>
          <p:cNvSpPr/>
          <p:nvPr/>
        </p:nvSpPr>
        <p:spPr>
          <a:xfrm>
            <a:off x="714375" y="2361400"/>
            <a:ext cx="3607594"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3-Telli ve 4-Telli Bağlantı</a:t>
            </a:r>
            <a:endParaRPr lang="en-US" sz="987" dirty="0"/>
          </a:p>
        </p:txBody>
      </p:sp>
      <p:sp>
        <p:nvSpPr>
          <p:cNvPr id="11" name="Text 8"/>
          <p:cNvSpPr/>
          <p:nvPr/>
        </p:nvSpPr>
        <p:spPr>
          <a:xfrm>
            <a:off x="714375" y="2591786"/>
            <a:ext cx="3607594" cy="427174"/>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Sensörün harici bir güç kaynağına ihtiyaç duyduğu durumlarda kullanılır. Sinyal ve besleme hatları birbirinden ayrılmıştır.</a:t>
            </a:r>
            <a:endParaRPr lang="en-US" sz="834" dirty="0"/>
          </a:p>
        </p:txBody>
      </p:sp>
      <p:sp>
        <p:nvSpPr>
          <p:cNvPr id="12" name="Shape 9"/>
          <p:cNvSpPr/>
          <p:nvPr/>
        </p:nvSpPr>
        <p:spPr>
          <a:xfrm>
            <a:off x="571500" y="3161835"/>
            <a:ext cx="3893344" cy="924725"/>
          </a:xfrm>
          <a:prstGeom prst="rect">
            <a:avLst/>
          </a:prstGeom>
          <a:solidFill>
            <a:srgbClr val="FFFFFF"/>
          </a:solidFill>
          <a:ln/>
        </p:spPr>
        <p:txBody>
          <a:bodyPr/>
          <a:lstStyle/>
          <a:p>
            <a:endParaRPr lang="en-US"/>
          </a:p>
        </p:txBody>
      </p:sp>
      <p:sp>
        <p:nvSpPr>
          <p:cNvPr id="13" name="Shape 10"/>
          <p:cNvSpPr/>
          <p:nvPr/>
        </p:nvSpPr>
        <p:spPr>
          <a:xfrm>
            <a:off x="571500" y="3161835"/>
            <a:ext cx="42863" cy="924725"/>
          </a:xfrm>
          <a:prstGeom prst="rect">
            <a:avLst/>
          </a:prstGeom>
          <a:solidFill>
            <a:srgbClr val="4338CA"/>
          </a:solidFill>
          <a:ln/>
        </p:spPr>
        <p:txBody>
          <a:bodyPr/>
          <a:lstStyle/>
          <a:p>
            <a:endParaRPr lang="en-US"/>
          </a:p>
        </p:txBody>
      </p:sp>
      <p:sp>
        <p:nvSpPr>
          <p:cNvPr id="14" name="Text 11"/>
          <p:cNvSpPr/>
          <p:nvPr/>
        </p:nvSpPr>
        <p:spPr>
          <a:xfrm>
            <a:off x="714375" y="3268991"/>
            <a:ext cx="3607594"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PLC Giriş Modülü Yapısı</a:t>
            </a:r>
            <a:endParaRPr lang="en-US" sz="987" dirty="0"/>
          </a:p>
        </p:txBody>
      </p:sp>
      <p:sp>
        <p:nvSpPr>
          <p:cNvPr id="15" name="Text 12"/>
          <p:cNvSpPr/>
          <p:nvPr/>
        </p:nvSpPr>
        <p:spPr>
          <a:xfrm>
            <a:off x="714375" y="3499377"/>
            <a:ext cx="3607594" cy="587183"/>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PLC tarafında akım sinyali genellikle hassas bir direnç (250 ohm) üzerinden geçirilerek 1-5V arası bir gerilime dönüştürülür ve ADC tarafından işlenir.</a:t>
            </a:r>
            <a:endParaRPr lang="en-US" sz="834" dirty="0"/>
          </a:p>
        </p:txBody>
      </p:sp>
      <p:pic>
        <p:nvPicPr>
          <p:cNvPr id="16" name="Image 1" descr="preencoded.png"/>
          <p:cNvPicPr>
            <a:picLocks noChangeAspect="1"/>
          </p:cNvPicPr>
          <p:nvPr/>
        </p:nvPicPr>
        <p:blipFill>
          <a:blip r:embed="rId4"/>
          <a:stretch>
            <a:fillRect/>
          </a:stretch>
        </p:blipFill>
        <p:spPr>
          <a:xfrm>
            <a:off x="5018484" y="1186644"/>
            <a:ext cx="3214688" cy="1785938"/>
          </a:xfrm>
          <a:prstGeom prst="rect">
            <a:avLst/>
          </a:prstGeom>
        </p:spPr>
      </p:pic>
      <p:pic>
        <p:nvPicPr>
          <p:cNvPr id="17" name="Image 2" descr="preencoded.png"/>
          <p:cNvPicPr>
            <a:picLocks noChangeAspect="1"/>
          </p:cNvPicPr>
          <p:nvPr/>
        </p:nvPicPr>
        <p:blipFill>
          <a:blip r:embed="rId5"/>
          <a:stretch>
            <a:fillRect/>
          </a:stretch>
        </p:blipFill>
        <p:spPr>
          <a:xfrm>
            <a:off x="5018484" y="3115456"/>
            <a:ext cx="3214688" cy="17859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713231"/>
            <a:ext cx="8429625" cy="417909"/>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F172A"/>
                </a:solidFill>
                <a:latin typeface="Montserrat" pitchFamily="34" charset="0"/>
                <a:ea typeface="Montserrat" pitchFamily="34" charset="-122"/>
                <a:cs typeface="Montserrat" pitchFamily="34" charset="-120"/>
              </a:rPr>
              <a:t>UYGULAMA ÖRNEĞI: BASINÇ SENSÖRÜ</a:t>
            </a:r>
            <a:endParaRPr lang="en-US" sz="2436" dirty="0"/>
          </a:p>
        </p:txBody>
      </p:sp>
      <p:sp>
        <p:nvSpPr>
          <p:cNvPr id="4" name="Shape 1"/>
          <p:cNvSpPr/>
          <p:nvPr/>
        </p:nvSpPr>
        <p:spPr>
          <a:xfrm>
            <a:off x="714375" y="1559765"/>
            <a:ext cx="3714750" cy="2702012"/>
          </a:xfrm>
          <a:prstGeom prst="rect">
            <a:avLst/>
          </a:prstGeom>
          <a:solidFill>
            <a:srgbClr val="FFFFFF"/>
          </a:solidFill>
          <a:ln/>
        </p:spPr>
        <p:txBody>
          <a:bodyPr/>
          <a:lstStyle/>
          <a:p>
            <a:endParaRPr lang="en-US"/>
          </a:p>
        </p:txBody>
      </p:sp>
      <p:sp>
        <p:nvSpPr>
          <p:cNvPr id="5" name="Shape 2"/>
          <p:cNvSpPr/>
          <p:nvPr/>
        </p:nvSpPr>
        <p:spPr>
          <a:xfrm>
            <a:off x="714375" y="1559765"/>
            <a:ext cx="42863" cy="2702012"/>
          </a:xfrm>
          <a:prstGeom prst="rect">
            <a:avLst/>
          </a:prstGeom>
          <a:solidFill>
            <a:srgbClr val="4338CA"/>
          </a:solidFill>
          <a:ln/>
        </p:spPr>
        <p:txBody>
          <a:bodyPr/>
          <a:lstStyle/>
          <a:p>
            <a:endParaRPr lang="en-US"/>
          </a:p>
        </p:txBody>
      </p:sp>
      <p:sp>
        <p:nvSpPr>
          <p:cNvPr id="6" name="Text 3"/>
          <p:cNvSpPr/>
          <p:nvPr/>
        </p:nvSpPr>
        <p:spPr>
          <a:xfrm>
            <a:off x="928688" y="1774078"/>
            <a:ext cx="3286125"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F172A"/>
                </a:solidFill>
                <a:latin typeface="Montserrat" pitchFamily="34" charset="0"/>
                <a:ea typeface="Montserrat" pitchFamily="34" charset="-122"/>
                <a:cs typeface="Montserrat" pitchFamily="34" charset="-120"/>
              </a:rPr>
              <a:t>Senaryo: Tank Basınç İzleme</a:t>
            </a:r>
            <a:endParaRPr lang="en-US" sz="1193" dirty="0"/>
          </a:p>
        </p:txBody>
      </p:sp>
      <p:sp>
        <p:nvSpPr>
          <p:cNvPr id="7" name="Text 4"/>
          <p:cNvSpPr/>
          <p:nvPr/>
        </p:nvSpPr>
        <p:spPr>
          <a:xfrm>
            <a:off x="928688" y="2125907"/>
            <a:ext cx="3286125" cy="1654336"/>
          </a:xfrm>
          <a:prstGeom prst="rect">
            <a:avLst/>
          </a:prstGeom>
          <a:noFill/>
          <a:ln/>
        </p:spPr>
        <p:txBody>
          <a:bodyPr wrap="square" lIns="0" tIns="0" rIns="0" bIns="255143" rtlCol="0" anchor="t">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Bir endüstriyel su deposunda basınç 0 ile 10 bar arasında ölçülmektedir. Sensör, fiziksel basıncı PLC'nin anlayabileceği 4-20 mA akım sinyaline dönüştürür. 
 </a:t>
            </a:r>
            <a:r>
              <a:rPr lang="en-US" sz="885" b="1" dirty="0">
                <a:solidFill>
                  <a:srgbClr val="059669"/>
                </a:solidFill>
                <a:latin typeface="Inter" pitchFamily="34" charset="0"/>
                <a:ea typeface="Inter" pitchFamily="34" charset="-122"/>
                <a:cs typeface="Inter" pitchFamily="34" charset="-120"/>
              </a:rPr>
              <a:t>Ölçeklendirme Formülü:</a:t>
            </a:r>
            <a:r>
              <a:rPr lang="en-US" sz="942" dirty="0">
                <a:solidFill>
                  <a:srgbClr val="475569"/>
                </a:solidFill>
                <a:latin typeface="Inter" pitchFamily="34" charset="0"/>
                <a:ea typeface="Inter" pitchFamily="34" charset="-122"/>
                <a:cs typeface="Inter" pitchFamily="34" charset="-120"/>
              </a:rPr>
              <a:t>
Basınç (Bar) = (Ölçülen mA - 4) * (10 / 16)</a:t>
            </a:r>
            <a:endParaRPr lang="en-US" sz="942" dirty="0"/>
          </a:p>
        </p:txBody>
      </p:sp>
      <p:sp>
        <p:nvSpPr>
          <p:cNvPr id="8" name="Shape 5"/>
          <p:cNvSpPr/>
          <p:nvPr/>
        </p:nvSpPr>
        <p:spPr>
          <a:xfrm>
            <a:off x="4714875" y="1559765"/>
            <a:ext cx="3714750" cy="2702012"/>
          </a:xfrm>
          <a:prstGeom prst="rect">
            <a:avLst/>
          </a:prstGeom>
          <a:solidFill>
            <a:srgbClr val="FFFFFF"/>
          </a:solidFill>
          <a:ln/>
        </p:spPr>
        <p:txBody>
          <a:bodyPr/>
          <a:lstStyle/>
          <a:p>
            <a:endParaRPr lang="en-US"/>
          </a:p>
        </p:txBody>
      </p:sp>
      <p:sp>
        <p:nvSpPr>
          <p:cNvPr id="9" name="Shape 6"/>
          <p:cNvSpPr/>
          <p:nvPr/>
        </p:nvSpPr>
        <p:spPr>
          <a:xfrm>
            <a:off x="4714875" y="1559765"/>
            <a:ext cx="42863" cy="2702012"/>
          </a:xfrm>
          <a:prstGeom prst="rect">
            <a:avLst/>
          </a:prstGeom>
          <a:solidFill>
            <a:srgbClr val="059669"/>
          </a:solidFill>
          <a:ln/>
        </p:spPr>
        <p:txBody>
          <a:bodyPr/>
          <a:lstStyle/>
          <a:p>
            <a:endParaRPr lang="en-US"/>
          </a:p>
        </p:txBody>
      </p:sp>
      <p:sp>
        <p:nvSpPr>
          <p:cNvPr id="10" name="Text 7"/>
          <p:cNvSpPr/>
          <p:nvPr/>
        </p:nvSpPr>
        <p:spPr>
          <a:xfrm>
            <a:off x="4929188" y="1774078"/>
            <a:ext cx="3286125" cy="20895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F172A"/>
                </a:solidFill>
                <a:latin typeface="Montserrat" pitchFamily="34" charset="0"/>
                <a:ea typeface="Montserrat" pitchFamily="34" charset="-122"/>
                <a:cs typeface="Montserrat" pitchFamily="34" charset="-120"/>
              </a:rPr>
              <a:t>Sinyal Karşılık Tablosu</a:t>
            </a:r>
            <a:endParaRPr lang="en-US" sz="1193" dirty="0"/>
          </a:p>
        </p:txBody>
      </p:sp>
      <p:sp>
        <p:nvSpPr>
          <p:cNvPr id="11" name="Text 8"/>
          <p:cNvSpPr/>
          <p:nvPr/>
        </p:nvSpPr>
        <p:spPr>
          <a:xfrm>
            <a:off x="4929188" y="2125907"/>
            <a:ext cx="1101784" cy="380740"/>
          </a:xfrm>
          <a:prstGeom prst="rect">
            <a:avLst/>
          </a:prstGeom>
          <a:noFill/>
          <a:ln/>
        </p:spPr>
        <p:txBody>
          <a:bodyPr wrap="square" lIns="102108" tIns="102108" rIns="102108" bIns="102108" rtlCol="0" anchor="ctr">
            <a:spAutoFit/>
          </a:bodyPr>
          <a:lstStyle/>
          <a:p>
            <a:pPr marL="0" indent="0" algn="l">
              <a:lnSpc>
                <a:spcPts val="1600"/>
              </a:lnSpc>
              <a:buNone/>
            </a:pPr>
            <a:r>
              <a:rPr lang="en-US" sz="885" b="1" dirty="0">
                <a:solidFill>
                  <a:srgbClr val="4338CA"/>
                </a:solidFill>
                <a:latin typeface="Inter" pitchFamily="34" charset="0"/>
                <a:ea typeface="Inter" pitchFamily="34" charset="-122"/>
                <a:cs typeface="Inter" pitchFamily="34" charset="-120"/>
              </a:rPr>
              <a:t>Basınç (Bar)</a:t>
            </a:r>
            <a:endParaRPr lang="en-US" sz="885" dirty="0"/>
          </a:p>
        </p:txBody>
      </p:sp>
      <p:sp>
        <p:nvSpPr>
          <p:cNvPr id="12" name="Text 9"/>
          <p:cNvSpPr/>
          <p:nvPr/>
        </p:nvSpPr>
        <p:spPr>
          <a:xfrm>
            <a:off x="6030971" y="2125907"/>
            <a:ext cx="1050438" cy="380740"/>
          </a:xfrm>
          <a:prstGeom prst="rect">
            <a:avLst/>
          </a:prstGeom>
          <a:noFill/>
          <a:ln/>
        </p:spPr>
        <p:txBody>
          <a:bodyPr wrap="square" lIns="102108" tIns="102108" rIns="102108" bIns="102108" rtlCol="0" anchor="ctr">
            <a:spAutoFit/>
          </a:bodyPr>
          <a:lstStyle/>
          <a:p>
            <a:pPr marL="0" indent="0" algn="l">
              <a:lnSpc>
                <a:spcPts val="1600"/>
              </a:lnSpc>
              <a:buNone/>
            </a:pPr>
            <a:r>
              <a:rPr lang="en-US" sz="885" b="1" dirty="0">
                <a:solidFill>
                  <a:srgbClr val="4338CA"/>
                </a:solidFill>
                <a:latin typeface="Inter" pitchFamily="34" charset="0"/>
                <a:ea typeface="Inter" pitchFamily="34" charset="-122"/>
                <a:cs typeface="Inter" pitchFamily="34" charset="-120"/>
              </a:rPr>
              <a:t>Sinyal (mA)</a:t>
            </a:r>
            <a:endParaRPr lang="en-US" sz="885" dirty="0"/>
          </a:p>
        </p:txBody>
      </p:sp>
      <p:sp>
        <p:nvSpPr>
          <p:cNvPr id="13" name="Text 10"/>
          <p:cNvSpPr/>
          <p:nvPr/>
        </p:nvSpPr>
        <p:spPr>
          <a:xfrm>
            <a:off x="7081410" y="2125907"/>
            <a:ext cx="1133903" cy="380740"/>
          </a:xfrm>
          <a:prstGeom prst="rect">
            <a:avLst/>
          </a:prstGeom>
          <a:noFill/>
          <a:ln/>
        </p:spPr>
        <p:txBody>
          <a:bodyPr wrap="square" lIns="102108" tIns="102108" rIns="102108" bIns="102108" rtlCol="0" anchor="ctr">
            <a:spAutoFit/>
          </a:bodyPr>
          <a:lstStyle/>
          <a:p>
            <a:pPr marL="0" indent="0" algn="l">
              <a:lnSpc>
                <a:spcPts val="1600"/>
              </a:lnSpc>
              <a:buNone/>
            </a:pPr>
            <a:r>
              <a:rPr lang="en-US" sz="885" b="1" dirty="0">
                <a:solidFill>
                  <a:srgbClr val="4338CA"/>
                </a:solidFill>
                <a:latin typeface="Inter" pitchFamily="34" charset="0"/>
                <a:ea typeface="Inter" pitchFamily="34" charset="-122"/>
                <a:cs typeface="Inter" pitchFamily="34" charset="-120"/>
              </a:rPr>
              <a:t>Durum</a:t>
            </a:r>
            <a:endParaRPr lang="en-US" sz="885" dirty="0"/>
          </a:p>
        </p:txBody>
      </p:sp>
      <p:sp>
        <p:nvSpPr>
          <p:cNvPr id="14" name="Text 11"/>
          <p:cNvSpPr/>
          <p:nvPr/>
        </p:nvSpPr>
        <p:spPr>
          <a:xfrm>
            <a:off x="4929188" y="2506647"/>
            <a:ext cx="1101784"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0 Bar</a:t>
            </a:r>
            <a:endParaRPr lang="en-US" sz="942" dirty="0"/>
          </a:p>
        </p:txBody>
      </p:sp>
      <p:sp>
        <p:nvSpPr>
          <p:cNvPr id="15" name="Text 12"/>
          <p:cNvSpPr/>
          <p:nvPr/>
        </p:nvSpPr>
        <p:spPr>
          <a:xfrm>
            <a:off x="6030971" y="2506647"/>
            <a:ext cx="1050438"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4 mA</a:t>
            </a:r>
            <a:endParaRPr lang="en-US" sz="942" dirty="0"/>
          </a:p>
        </p:txBody>
      </p:sp>
      <p:sp>
        <p:nvSpPr>
          <p:cNvPr id="16" name="Text 13"/>
          <p:cNvSpPr/>
          <p:nvPr/>
        </p:nvSpPr>
        <p:spPr>
          <a:xfrm>
            <a:off x="7081410" y="2506647"/>
            <a:ext cx="1133903"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Minimum</a:t>
            </a:r>
            <a:endParaRPr lang="en-US" sz="942" dirty="0"/>
          </a:p>
        </p:txBody>
      </p:sp>
      <p:sp>
        <p:nvSpPr>
          <p:cNvPr id="17" name="Text 14"/>
          <p:cNvSpPr/>
          <p:nvPr/>
        </p:nvSpPr>
        <p:spPr>
          <a:xfrm>
            <a:off x="4929188" y="2890958"/>
            <a:ext cx="1101784"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5 Bar</a:t>
            </a:r>
            <a:endParaRPr lang="en-US" sz="942" dirty="0"/>
          </a:p>
        </p:txBody>
      </p:sp>
      <p:sp>
        <p:nvSpPr>
          <p:cNvPr id="18" name="Text 15"/>
          <p:cNvSpPr/>
          <p:nvPr/>
        </p:nvSpPr>
        <p:spPr>
          <a:xfrm>
            <a:off x="6030971" y="2890958"/>
            <a:ext cx="1050438"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12 mA</a:t>
            </a:r>
            <a:endParaRPr lang="en-US" sz="942" dirty="0"/>
          </a:p>
        </p:txBody>
      </p:sp>
      <p:sp>
        <p:nvSpPr>
          <p:cNvPr id="19" name="Text 16"/>
          <p:cNvSpPr/>
          <p:nvPr/>
        </p:nvSpPr>
        <p:spPr>
          <a:xfrm>
            <a:off x="7081410" y="2890958"/>
            <a:ext cx="1133903"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Orta Değer</a:t>
            </a:r>
            <a:endParaRPr lang="en-US" sz="942" dirty="0"/>
          </a:p>
        </p:txBody>
      </p:sp>
      <p:sp>
        <p:nvSpPr>
          <p:cNvPr id="20" name="Text 17"/>
          <p:cNvSpPr/>
          <p:nvPr/>
        </p:nvSpPr>
        <p:spPr>
          <a:xfrm>
            <a:off x="4929188" y="3275270"/>
            <a:ext cx="1101784"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10 Bar</a:t>
            </a:r>
            <a:endParaRPr lang="en-US" sz="942" dirty="0"/>
          </a:p>
        </p:txBody>
      </p:sp>
      <p:sp>
        <p:nvSpPr>
          <p:cNvPr id="21" name="Text 18"/>
          <p:cNvSpPr/>
          <p:nvPr/>
        </p:nvSpPr>
        <p:spPr>
          <a:xfrm>
            <a:off x="6030971" y="3275270"/>
            <a:ext cx="1050438"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20 mA</a:t>
            </a:r>
            <a:endParaRPr lang="en-US" sz="942" dirty="0"/>
          </a:p>
        </p:txBody>
      </p:sp>
      <p:sp>
        <p:nvSpPr>
          <p:cNvPr id="22" name="Text 19"/>
          <p:cNvSpPr/>
          <p:nvPr/>
        </p:nvSpPr>
        <p:spPr>
          <a:xfrm>
            <a:off x="7081410" y="3275270"/>
            <a:ext cx="1133903"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Maksimum</a:t>
            </a:r>
            <a:endParaRPr lang="en-US" sz="942" dirty="0"/>
          </a:p>
        </p:txBody>
      </p:sp>
      <p:sp>
        <p:nvSpPr>
          <p:cNvPr id="23" name="Text 20"/>
          <p:cNvSpPr/>
          <p:nvPr/>
        </p:nvSpPr>
        <p:spPr>
          <a:xfrm>
            <a:off x="4929188" y="3659581"/>
            <a:ext cx="1101784"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Hata</a:t>
            </a:r>
            <a:endParaRPr lang="en-US" sz="942" dirty="0"/>
          </a:p>
        </p:txBody>
      </p:sp>
      <p:sp>
        <p:nvSpPr>
          <p:cNvPr id="24" name="Text 21"/>
          <p:cNvSpPr/>
          <p:nvPr/>
        </p:nvSpPr>
        <p:spPr>
          <a:xfrm>
            <a:off x="6030971" y="3659581"/>
            <a:ext cx="1050438"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0 mA</a:t>
            </a:r>
            <a:endParaRPr lang="en-US" sz="942" dirty="0"/>
          </a:p>
        </p:txBody>
      </p:sp>
      <p:sp>
        <p:nvSpPr>
          <p:cNvPr id="25" name="Text 22"/>
          <p:cNvSpPr/>
          <p:nvPr/>
        </p:nvSpPr>
        <p:spPr>
          <a:xfrm>
            <a:off x="7081410" y="3659581"/>
            <a:ext cx="1133903" cy="384311"/>
          </a:xfrm>
          <a:prstGeom prst="rect">
            <a:avLst/>
          </a:prstGeom>
          <a:noFill/>
          <a:ln/>
        </p:spPr>
        <p:txBody>
          <a:bodyPr wrap="square" lIns="102108" tIns="102108" rIns="102108" bIns="102108" rtlCol="0" anchor="ctr">
            <a:spAutoFit/>
          </a:bodyPr>
          <a:lstStyle/>
          <a:p>
            <a:pPr marL="0" indent="0" algn="l">
              <a:lnSpc>
                <a:spcPts val="1600"/>
              </a:lnSpc>
              <a:buNone/>
            </a:pPr>
            <a:r>
              <a:rPr lang="en-US" sz="942" dirty="0">
                <a:solidFill>
                  <a:srgbClr val="475569"/>
                </a:solidFill>
                <a:latin typeface="Inter" pitchFamily="34" charset="0"/>
                <a:ea typeface="Inter" pitchFamily="34" charset="-122"/>
                <a:cs typeface="Inter" pitchFamily="34" charset="-120"/>
              </a:rPr>
              <a:t>Kablo Kopuk</a:t>
            </a:r>
            <a:endParaRPr lang="en-US" sz="94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6214"/>
            <a:ext cx="8572500" cy="366117"/>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F172A"/>
                </a:solidFill>
                <a:latin typeface="Montserrat" pitchFamily="34" charset="0"/>
                <a:ea typeface="Montserrat" pitchFamily="34" charset="-122"/>
                <a:cs typeface="Montserrat" pitchFamily="34" charset="-120"/>
              </a:rPr>
              <a:t>MEKANIK SENSÖRLERIN ÇALIŞMA PRENSIBI</a:t>
            </a:r>
            <a:endParaRPr lang="en-US" sz="2121" dirty="0"/>
          </a:p>
        </p:txBody>
      </p:sp>
      <p:sp>
        <p:nvSpPr>
          <p:cNvPr id="4" name="Shape 1"/>
          <p:cNvSpPr/>
          <p:nvPr/>
        </p:nvSpPr>
        <p:spPr>
          <a:xfrm>
            <a:off x="571500" y="1186644"/>
            <a:ext cx="4143375" cy="1125141"/>
          </a:xfrm>
          <a:prstGeom prst="rect">
            <a:avLst/>
          </a:prstGeom>
          <a:solidFill>
            <a:srgbClr val="FFFFFF"/>
          </a:solidFill>
          <a:ln/>
        </p:spPr>
        <p:txBody>
          <a:bodyPr/>
          <a:lstStyle/>
          <a:p>
            <a:endParaRPr lang="en-US"/>
          </a:p>
        </p:txBody>
      </p:sp>
      <p:sp>
        <p:nvSpPr>
          <p:cNvPr id="5" name="Shape 2"/>
          <p:cNvSpPr/>
          <p:nvPr/>
        </p:nvSpPr>
        <p:spPr>
          <a:xfrm>
            <a:off x="571500" y="1186644"/>
            <a:ext cx="42863" cy="1125141"/>
          </a:xfrm>
          <a:prstGeom prst="rect">
            <a:avLst/>
          </a:prstGeom>
          <a:solidFill>
            <a:srgbClr val="4338CA"/>
          </a:solidFill>
          <a:ln/>
        </p:spPr>
        <p:txBody>
          <a:bodyPr/>
          <a:lstStyle/>
          <a:p>
            <a:endParaRPr lang="en-US"/>
          </a:p>
        </p:txBody>
      </p:sp>
      <p:sp>
        <p:nvSpPr>
          <p:cNvPr id="6" name="Text 3"/>
          <p:cNvSpPr/>
          <p:nvPr/>
        </p:nvSpPr>
        <p:spPr>
          <a:xfrm>
            <a:off x="750094" y="1329519"/>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Fiziksel Temas ve Algılama</a:t>
            </a:r>
            <a:endParaRPr lang="en-US" sz="1090" dirty="0"/>
          </a:p>
        </p:txBody>
      </p:sp>
      <p:sp>
        <p:nvSpPr>
          <p:cNvPr id="7" name="Text 4"/>
          <p:cNvSpPr/>
          <p:nvPr/>
        </p:nvSpPr>
        <p:spPr>
          <a:xfrm>
            <a:off x="750094" y="1590266"/>
            <a:ext cx="3786188" cy="721519"/>
          </a:xfrm>
          <a:prstGeom prst="rect">
            <a:avLst/>
          </a:prstGeom>
          <a:noFill/>
          <a:ln/>
        </p:spPr>
        <p:txBody>
          <a:bodyPr wrap="square" lIns="0" tIns="0" rIns="0" bIns="170053"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Mekanik sensörler, bir nesnenin sensörün hareketli parçasına (kol, buton, makara) fiziksel olarak temas etmesiyle çalışır. Bu temas, iç mekanizmayı tetikler.</a:t>
            </a:r>
            <a:endParaRPr lang="en-US" sz="942" dirty="0"/>
          </a:p>
        </p:txBody>
      </p:sp>
      <p:sp>
        <p:nvSpPr>
          <p:cNvPr id="8" name="Shape 5"/>
          <p:cNvSpPr/>
          <p:nvPr/>
        </p:nvSpPr>
        <p:spPr>
          <a:xfrm>
            <a:off x="571500" y="2490378"/>
            <a:ext cx="4143375" cy="1125141"/>
          </a:xfrm>
          <a:prstGeom prst="rect">
            <a:avLst/>
          </a:prstGeom>
          <a:solidFill>
            <a:srgbClr val="FFFFFF"/>
          </a:solidFill>
          <a:ln/>
        </p:spPr>
        <p:txBody>
          <a:bodyPr/>
          <a:lstStyle/>
          <a:p>
            <a:endParaRPr lang="en-US"/>
          </a:p>
        </p:txBody>
      </p:sp>
      <p:sp>
        <p:nvSpPr>
          <p:cNvPr id="9" name="Shape 6"/>
          <p:cNvSpPr/>
          <p:nvPr/>
        </p:nvSpPr>
        <p:spPr>
          <a:xfrm>
            <a:off x="571500" y="2490378"/>
            <a:ext cx="42863" cy="1125141"/>
          </a:xfrm>
          <a:prstGeom prst="rect">
            <a:avLst/>
          </a:prstGeom>
          <a:solidFill>
            <a:srgbClr val="059669"/>
          </a:solidFill>
          <a:ln/>
        </p:spPr>
        <p:txBody>
          <a:bodyPr/>
          <a:lstStyle/>
          <a:p>
            <a:endParaRPr lang="en-US"/>
          </a:p>
        </p:txBody>
      </p:sp>
      <p:sp>
        <p:nvSpPr>
          <p:cNvPr id="10" name="Text 7"/>
          <p:cNvSpPr/>
          <p:nvPr/>
        </p:nvSpPr>
        <p:spPr>
          <a:xfrm>
            <a:off x="750094" y="2633253"/>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Kontak Yapısı (NO / NC)</a:t>
            </a:r>
            <a:endParaRPr lang="en-US" sz="1090" dirty="0"/>
          </a:p>
        </p:txBody>
      </p:sp>
      <p:sp>
        <p:nvSpPr>
          <p:cNvPr id="11" name="Text 8"/>
          <p:cNvSpPr/>
          <p:nvPr/>
        </p:nvSpPr>
        <p:spPr>
          <a:xfrm>
            <a:off x="750094" y="2894000"/>
            <a:ext cx="3786188" cy="721519"/>
          </a:xfrm>
          <a:prstGeom prst="rect">
            <a:avLst/>
          </a:prstGeom>
          <a:noFill/>
          <a:ln/>
        </p:spPr>
        <p:txBody>
          <a:bodyPr wrap="square" lIns="0" tIns="0" rIns="0" bIns="170053"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İçerisinde elektriksel kontaklar bulunur. Normalde Açık (NO) kontak temasla kapanır, Normalde Kapalı (NC) kontak ise temasla açılarak devreyi keser.</a:t>
            </a:r>
            <a:endParaRPr lang="en-US" sz="942" dirty="0"/>
          </a:p>
        </p:txBody>
      </p:sp>
      <p:sp>
        <p:nvSpPr>
          <p:cNvPr id="12" name="Shape 9"/>
          <p:cNvSpPr/>
          <p:nvPr/>
        </p:nvSpPr>
        <p:spPr>
          <a:xfrm>
            <a:off x="571500" y="3794113"/>
            <a:ext cx="4143375" cy="1125141"/>
          </a:xfrm>
          <a:prstGeom prst="rect">
            <a:avLst/>
          </a:prstGeom>
          <a:solidFill>
            <a:srgbClr val="FFFFFF"/>
          </a:solidFill>
          <a:ln/>
        </p:spPr>
        <p:txBody>
          <a:bodyPr/>
          <a:lstStyle/>
          <a:p>
            <a:endParaRPr lang="en-US"/>
          </a:p>
        </p:txBody>
      </p:sp>
      <p:sp>
        <p:nvSpPr>
          <p:cNvPr id="13" name="Shape 10"/>
          <p:cNvSpPr/>
          <p:nvPr/>
        </p:nvSpPr>
        <p:spPr>
          <a:xfrm>
            <a:off x="571500" y="3794113"/>
            <a:ext cx="42863" cy="1125141"/>
          </a:xfrm>
          <a:prstGeom prst="rect">
            <a:avLst/>
          </a:prstGeom>
          <a:solidFill>
            <a:srgbClr val="4338CA"/>
          </a:solidFill>
          <a:ln/>
        </p:spPr>
        <p:txBody>
          <a:bodyPr/>
          <a:lstStyle/>
          <a:p>
            <a:endParaRPr lang="en-US"/>
          </a:p>
        </p:txBody>
      </p:sp>
      <p:sp>
        <p:nvSpPr>
          <p:cNvPr id="14" name="Text 11"/>
          <p:cNvSpPr/>
          <p:nvPr/>
        </p:nvSpPr>
        <p:spPr>
          <a:xfrm>
            <a:off x="750094" y="3936988"/>
            <a:ext cx="3786188"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Inter" pitchFamily="34" charset="0"/>
                <a:ea typeface="Inter" pitchFamily="34" charset="-122"/>
                <a:cs typeface="Inter" pitchFamily="34" charset="-120"/>
              </a:rPr>
              <a:t>Limit Switch (Sınır Anahtarı)</a:t>
            </a:r>
            <a:endParaRPr lang="en-US" sz="1090" dirty="0"/>
          </a:p>
        </p:txBody>
      </p:sp>
      <p:sp>
        <p:nvSpPr>
          <p:cNvPr id="15" name="Text 12"/>
          <p:cNvSpPr/>
          <p:nvPr/>
        </p:nvSpPr>
        <p:spPr>
          <a:xfrm>
            <a:off x="750094" y="4197734"/>
            <a:ext cx="3786188" cy="721519"/>
          </a:xfrm>
          <a:prstGeom prst="rect">
            <a:avLst/>
          </a:prstGeom>
          <a:noFill/>
          <a:ln/>
        </p:spPr>
        <p:txBody>
          <a:bodyPr wrap="square" lIns="0" tIns="0" rIns="0" bIns="170053" rtlCol="0" anchor="t">
            <a:spAutoFit/>
          </a:bodyPr>
          <a:lstStyle/>
          <a:p>
            <a:pPr marL="0" indent="0" algn="l">
              <a:lnSpc>
                <a:spcPts val="1500"/>
              </a:lnSpc>
              <a:buNone/>
            </a:pPr>
            <a:r>
              <a:rPr lang="en-US" sz="942" dirty="0">
                <a:solidFill>
                  <a:srgbClr val="475569"/>
                </a:solidFill>
                <a:latin typeface="Inter" pitchFamily="34" charset="0"/>
                <a:ea typeface="Inter" pitchFamily="34" charset="-122"/>
                <a:cs typeface="Inter" pitchFamily="34" charset="-120"/>
              </a:rPr>
              <a:t>En yaygın mekanik sensördür. Hareketli bir parçanın son noktaya ulaştığını algılayarak sistemi durdurur veya yönünü değiştirir.</a:t>
            </a:r>
            <a:endParaRPr lang="en-US" sz="942" dirty="0"/>
          </a:p>
        </p:txBody>
      </p:sp>
      <p:pic>
        <p:nvPicPr>
          <p:cNvPr id="16" name="Image 1" descr="preencoded.png"/>
          <p:cNvPicPr>
            <a:picLocks noChangeAspect="1"/>
          </p:cNvPicPr>
          <p:nvPr/>
        </p:nvPicPr>
        <p:blipFill>
          <a:blip r:embed="rId4"/>
          <a:stretch>
            <a:fillRect/>
          </a:stretch>
        </p:blipFill>
        <p:spPr>
          <a:xfrm>
            <a:off x="5000625" y="1329519"/>
            <a:ext cx="3571875" cy="2857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6214"/>
            <a:ext cx="8572500" cy="366117"/>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F172A"/>
                </a:solidFill>
                <a:latin typeface="Montserrat" pitchFamily="34" charset="0"/>
                <a:ea typeface="Montserrat" pitchFamily="34" charset="-122"/>
                <a:cs typeface="Montserrat" pitchFamily="34" charset="-120"/>
              </a:rPr>
              <a:t>MEKANIK SENSÖRLERIN KULLANIM ALANLARI</a:t>
            </a:r>
            <a:endParaRPr lang="en-US" sz="2121" dirty="0"/>
          </a:p>
        </p:txBody>
      </p:sp>
      <p:sp>
        <p:nvSpPr>
          <p:cNvPr id="4" name="Shape 1"/>
          <p:cNvSpPr/>
          <p:nvPr/>
        </p:nvSpPr>
        <p:spPr>
          <a:xfrm>
            <a:off x="571500" y="1186644"/>
            <a:ext cx="4857750" cy="764716"/>
          </a:xfrm>
          <a:prstGeom prst="rect">
            <a:avLst/>
          </a:prstGeom>
          <a:solidFill>
            <a:srgbClr val="FFFFFF"/>
          </a:solidFill>
          <a:ln/>
        </p:spPr>
        <p:txBody>
          <a:bodyPr/>
          <a:lstStyle/>
          <a:p>
            <a:endParaRPr lang="en-US"/>
          </a:p>
        </p:txBody>
      </p:sp>
      <p:sp>
        <p:nvSpPr>
          <p:cNvPr id="5" name="Shape 2"/>
          <p:cNvSpPr/>
          <p:nvPr/>
        </p:nvSpPr>
        <p:spPr>
          <a:xfrm>
            <a:off x="571500" y="1186644"/>
            <a:ext cx="42863" cy="764716"/>
          </a:xfrm>
          <a:prstGeom prst="rect">
            <a:avLst/>
          </a:prstGeom>
          <a:solidFill>
            <a:srgbClr val="059669"/>
          </a:solidFill>
          <a:ln/>
        </p:spPr>
        <p:txBody>
          <a:bodyPr/>
          <a:lstStyle/>
          <a:p>
            <a:endParaRPr lang="en-US"/>
          </a:p>
        </p:txBody>
      </p:sp>
      <p:sp>
        <p:nvSpPr>
          <p:cNvPr id="6" name="Text 3"/>
          <p:cNvSpPr/>
          <p:nvPr/>
        </p:nvSpPr>
        <p:spPr>
          <a:xfrm>
            <a:off x="714375" y="1293800"/>
            <a:ext cx="4572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4338CA"/>
                </a:solidFill>
                <a:latin typeface="Inter" pitchFamily="34" charset="0"/>
                <a:ea typeface="Inter" pitchFamily="34" charset="-122"/>
                <a:cs typeface="Inter" pitchFamily="34" charset="-120"/>
              </a:rPr>
              <a:t>Konveyör ve Lojistik</a:t>
            </a:r>
            <a:endParaRPr lang="en-US" sz="987" dirty="0"/>
          </a:p>
        </p:txBody>
      </p:sp>
      <p:sp>
        <p:nvSpPr>
          <p:cNvPr id="7" name="Text 4"/>
          <p:cNvSpPr/>
          <p:nvPr/>
        </p:nvSpPr>
        <p:spPr>
          <a:xfrm>
            <a:off x="714375" y="1524186"/>
            <a:ext cx="4572000" cy="427174"/>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Paketlerin bant üzerindeki geçişini saymak, kutuların doğru konumda olup olmadığını doğrulamak ve ayrıştırma kollarını tetiklemek için kullanılır.</a:t>
            </a:r>
            <a:endParaRPr lang="en-US" sz="834" dirty="0"/>
          </a:p>
        </p:txBody>
      </p:sp>
      <p:sp>
        <p:nvSpPr>
          <p:cNvPr id="8" name="Shape 5"/>
          <p:cNvSpPr/>
          <p:nvPr/>
        </p:nvSpPr>
        <p:spPr>
          <a:xfrm>
            <a:off x="571500" y="2094235"/>
            <a:ext cx="4857750" cy="764716"/>
          </a:xfrm>
          <a:prstGeom prst="rect">
            <a:avLst/>
          </a:prstGeom>
          <a:solidFill>
            <a:srgbClr val="FFFFFF"/>
          </a:solidFill>
          <a:ln/>
        </p:spPr>
        <p:txBody>
          <a:bodyPr/>
          <a:lstStyle/>
          <a:p>
            <a:endParaRPr lang="en-US"/>
          </a:p>
        </p:txBody>
      </p:sp>
      <p:sp>
        <p:nvSpPr>
          <p:cNvPr id="9" name="Shape 6"/>
          <p:cNvSpPr/>
          <p:nvPr/>
        </p:nvSpPr>
        <p:spPr>
          <a:xfrm>
            <a:off x="571500" y="2094235"/>
            <a:ext cx="42863" cy="764716"/>
          </a:xfrm>
          <a:prstGeom prst="rect">
            <a:avLst/>
          </a:prstGeom>
          <a:solidFill>
            <a:srgbClr val="059669"/>
          </a:solidFill>
          <a:ln/>
        </p:spPr>
        <p:txBody>
          <a:bodyPr/>
          <a:lstStyle/>
          <a:p>
            <a:endParaRPr lang="en-US"/>
          </a:p>
        </p:txBody>
      </p:sp>
      <p:sp>
        <p:nvSpPr>
          <p:cNvPr id="10" name="Text 7"/>
          <p:cNvSpPr/>
          <p:nvPr/>
        </p:nvSpPr>
        <p:spPr>
          <a:xfrm>
            <a:off x="714375" y="2201391"/>
            <a:ext cx="4572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4338CA"/>
                </a:solidFill>
                <a:latin typeface="Inter" pitchFamily="34" charset="0"/>
                <a:ea typeface="Inter" pitchFamily="34" charset="-122"/>
                <a:cs typeface="Inter" pitchFamily="34" charset="-120"/>
              </a:rPr>
              <a:t>CNC ve Takım Tezgahları</a:t>
            </a:r>
            <a:endParaRPr lang="en-US" sz="987" dirty="0"/>
          </a:p>
        </p:txBody>
      </p:sp>
      <p:sp>
        <p:nvSpPr>
          <p:cNvPr id="11" name="Text 8"/>
          <p:cNvSpPr/>
          <p:nvPr/>
        </p:nvSpPr>
        <p:spPr>
          <a:xfrm>
            <a:off x="714375" y="2431777"/>
            <a:ext cx="4572000" cy="427174"/>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Hareketli eksenlerin (X, Y, Z) güvenli çalışma sınırlarını belirler. Eksen limit dışına çıktığında sistemi anında durdurarak mekanik hasarı önler.</a:t>
            </a:r>
            <a:endParaRPr lang="en-US" sz="834" dirty="0"/>
          </a:p>
        </p:txBody>
      </p:sp>
      <p:sp>
        <p:nvSpPr>
          <p:cNvPr id="12" name="Shape 9"/>
          <p:cNvSpPr/>
          <p:nvPr/>
        </p:nvSpPr>
        <p:spPr>
          <a:xfrm>
            <a:off x="571500" y="3001826"/>
            <a:ext cx="4857750" cy="764716"/>
          </a:xfrm>
          <a:prstGeom prst="rect">
            <a:avLst/>
          </a:prstGeom>
          <a:solidFill>
            <a:srgbClr val="FFFFFF"/>
          </a:solidFill>
          <a:ln/>
        </p:spPr>
        <p:txBody>
          <a:bodyPr/>
          <a:lstStyle/>
          <a:p>
            <a:endParaRPr lang="en-US"/>
          </a:p>
        </p:txBody>
      </p:sp>
      <p:sp>
        <p:nvSpPr>
          <p:cNvPr id="13" name="Shape 10"/>
          <p:cNvSpPr/>
          <p:nvPr/>
        </p:nvSpPr>
        <p:spPr>
          <a:xfrm>
            <a:off x="571500" y="3001826"/>
            <a:ext cx="42863" cy="764716"/>
          </a:xfrm>
          <a:prstGeom prst="rect">
            <a:avLst/>
          </a:prstGeom>
          <a:solidFill>
            <a:srgbClr val="059669"/>
          </a:solidFill>
          <a:ln/>
        </p:spPr>
        <p:txBody>
          <a:bodyPr/>
          <a:lstStyle/>
          <a:p>
            <a:endParaRPr lang="en-US"/>
          </a:p>
        </p:txBody>
      </p:sp>
      <p:sp>
        <p:nvSpPr>
          <p:cNvPr id="14" name="Text 11"/>
          <p:cNvSpPr/>
          <p:nvPr/>
        </p:nvSpPr>
        <p:spPr>
          <a:xfrm>
            <a:off x="714375" y="3108982"/>
            <a:ext cx="4572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4338CA"/>
                </a:solidFill>
                <a:latin typeface="Inter" pitchFamily="34" charset="0"/>
                <a:ea typeface="Inter" pitchFamily="34" charset="-122"/>
                <a:cs typeface="Inter" pitchFamily="34" charset="-120"/>
              </a:rPr>
              <a:t>Asansör ve Kaldırma Sistemleri</a:t>
            </a:r>
            <a:endParaRPr lang="en-US" sz="987" dirty="0"/>
          </a:p>
        </p:txBody>
      </p:sp>
      <p:sp>
        <p:nvSpPr>
          <p:cNvPr id="15" name="Text 12"/>
          <p:cNvSpPr/>
          <p:nvPr/>
        </p:nvSpPr>
        <p:spPr>
          <a:xfrm>
            <a:off x="714375" y="3339368"/>
            <a:ext cx="4572000" cy="427174"/>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Asansör kabininin kat hizasına geldiğini algılamak ve kapıların tam kapalı olduğunu doğrulamak için kritik bir emniyet elemanıdır.</a:t>
            </a:r>
            <a:endParaRPr lang="en-US" sz="834" dirty="0"/>
          </a:p>
        </p:txBody>
      </p:sp>
      <p:sp>
        <p:nvSpPr>
          <p:cNvPr id="16" name="Shape 13"/>
          <p:cNvSpPr/>
          <p:nvPr/>
        </p:nvSpPr>
        <p:spPr>
          <a:xfrm>
            <a:off x="571500" y="3909417"/>
            <a:ext cx="4857750" cy="764716"/>
          </a:xfrm>
          <a:prstGeom prst="rect">
            <a:avLst/>
          </a:prstGeom>
          <a:solidFill>
            <a:srgbClr val="FFFFFF"/>
          </a:solidFill>
          <a:ln/>
        </p:spPr>
        <p:txBody>
          <a:bodyPr/>
          <a:lstStyle/>
          <a:p>
            <a:endParaRPr lang="en-US"/>
          </a:p>
        </p:txBody>
      </p:sp>
      <p:sp>
        <p:nvSpPr>
          <p:cNvPr id="17" name="Shape 14"/>
          <p:cNvSpPr/>
          <p:nvPr/>
        </p:nvSpPr>
        <p:spPr>
          <a:xfrm>
            <a:off x="571500" y="3909417"/>
            <a:ext cx="42863" cy="764716"/>
          </a:xfrm>
          <a:prstGeom prst="rect">
            <a:avLst/>
          </a:prstGeom>
          <a:solidFill>
            <a:srgbClr val="059669"/>
          </a:solidFill>
          <a:ln/>
        </p:spPr>
        <p:txBody>
          <a:bodyPr/>
          <a:lstStyle/>
          <a:p>
            <a:endParaRPr lang="en-US"/>
          </a:p>
        </p:txBody>
      </p:sp>
      <p:sp>
        <p:nvSpPr>
          <p:cNvPr id="18" name="Text 15"/>
          <p:cNvSpPr/>
          <p:nvPr/>
        </p:nvSpPr>
        <p:spPr>
          <a:xfrm>
            <a:off x="714375" y="4016573"/>
            <a:ext cx="4572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4338CA"/>
                </a:solidFill>
                <a:latin typeface="Inter" pitchFamily="34" charset="0"/>
                <a:ea typeface="Inter" pitchFamily="34" charset="-122"/>
                <a:cs typeface="Inter" pitchFamily="34" charset="-120"/>
              </a:rPr>
              <a:t>Makine Emniyet Kapakları</a:t>
            </a:r>
            <a:endParaRPr lang="en-US" sz="987" dirty="0"/>
          </a:p>
        </p:txBody>
      </p:sp>
      <p:sp>
        <p:nvSpPr>
          <p:cNvPr id="19" name="Text 16"/>
          <p:cNvSpPr/>
          <p:nvPr/>
        </p:nvSpPr>
        <p:spPr>
          <a:xfrm>
            <a:off x="714375" y="4246959"/>
            <a:ext cx="4572000" cy="427174"/>
          </a:xfrm>
          <a:prstGeom prst="rect">
            <a:avLst/>
          </a:prstGeom>
          <a:noFill/>
          <a:ln/>
        </p:spPr>
        <p:txBody>
          <a:bodyPr wrap="square" lIns="0" tIns="0" rIns="0" bIns="127508" rtlCol="0" anchor="t">
            <a:spAutoFit/>
          </a:bodyPr>
          <a:lstStyle/>
          <a:p>
            <a:pPr marL="0" indent="0" algn="l">
              <a:lnSpc>
                <a:spcPts val="1300"/>
              </a:lnSpc>
              <a:buNone/>
            </a:pPr>
            <a:r>
              <a:rPr lang="en-US" sz="834" dirty="0">
                <a:solidFill>
                  <a:srgbClr val="475569"/>
                </a:solidFill>
                <a:latin typeface="Inter" pitchFamily="34" charset="0"/>
                <a:ea typeface="Inter" pitchFamily="34" charset="-122"/>
                <a:cs typeface="Inter" pitchFamily="34" charset="-120"/>
              </a:rPr>
              <a:t>Tehlikeli makinelerin koruma kapaklarına yerleştirilir. Kapak açıldığında devreyi keserek makinenin çalışmasını engeller.</a:t>
            </a:r>
            <a:endParaRPr lang="en-US" sz="834" dirty="0"/>
          </a:p>
        </p:txBody>
      </p:sp>
      <p:pic>
        <p:nvPicPr>
          <p:cNvPr id="20" name="Image 1" descr="preencoded.png"/>
          <p:cNvPicPr>
            <a:picLocks noChangeAspect="1"/>
          </p:cNvPicPr>
          <p:nvPr/>
        </p:nvPicPr>
        <p:blipFill>
          <a:blip r:embed="rId4"/>
          <a:stretch>
            <a:fillRect/>
          </a:stretch>
        </p:blipFill>
        <p:spPr>
          <a:xfrm>
            <a:off x="5893594" y="1258081"/>
            <a:ext cx="2500313" cy="1785938"/>
          </a:xfrm>
          <a:prstGeom prst="rect">
            <a:avLst/>
          </a:prstGeom>
        </p:spPr>
      </p:pic>
      <p:pic>
        <p:nvPicPr>
          <p:cNvPr id="21" name="Image 2" descr="preencoded.png"/>
          <p:cNvPicPr>
            <a:picLocks noChangeAspect="1"/>
          </p:cNvPicPr>
          <p:nvPr/>
        </p:nvPicPr>
        <p:blipFill>
          <a:blip r:embed="rId5"/>
          <a:stretch>
            <a:fillRect/>
          </a:stretch>
        </p:blipFill>
        <p:spPr>
          <a:xfrm>
            <a:off x="5893594" y="3186894"/>
            <a:ext cx="2500313" cy="17859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511057"/>
            <a:ext cx="8715375" cy="330398"/>
          </a:xfrm>
          <a:prstGeom prst="rect">
            <a:avLst/>
          </a:prstGeom>
          <a:noFill/>
          <a:ln/>
        </p:spPr>
        <p:txBody>
          <a:bodyPr wrap="none" lIns="0" tIns="0" rIns="0" bIns="0" rtlCol="0" anchor="t">
            <a:spAutoFit/>
          </a:bodyPr>
          <a:lstStyle/>
          <a:p>
            <a:pPr marL="0" indent="0" algn="l">
              <a:lnSpc>
                <a:spcPts val="2600"/>
              </a:lnSpc>
              <a:buNone/>
            </a:pPr>
            <a:r>
              <a:rPr lang="en-US" sz="1912" b="1" dirty="0">
                <a:solidFill>
                  <a:srgbClr val="0F172A"/>
                </a:solidFill>
                <a:latin typeface="Montserrat" pitchFamily="34" charset="0"/>
                <a:ea typeface="Montserrat" pitchFamily="34" charset="-122"/>
                <a:cs typeface="Montserrat" pitchFamily="34" charset="-120"/>
              </a:rPr>
              <a:t>PLC ILE MEKANIK SENSÖR BAĞLANTISI</a:t>
            </a:r>
            <a:endParaRPr lang="en-US" sz="1912" dirty="0"/>
          </a:p>
        </p:txBody>
      </p:sp>
      <p:sp>
        <p:nvSpPr>
          <p:cNvPr id="4" name="Shape 1"/>
          <p:cNvSpPr/>
          <p:nvPr/>
        </p:nvSpPr>
        <p:spPr>
          <a:xfrm>
            <a:off x="428625" y="984331"/>
            <a:ext cx="2964656" cy="855464"/>
          </a:xfrm>
          <a:prstGeom prst="rect">
            <a:avLst/>
          </a:prstGeom>
          <a:solidFill>
            <a:srgbClr val="FFFFFF"/>
          </a:solidFill>
          <a:ln/>
        </p:spPr>
        <p:txBody>
          <a:bodyPr/>
          <a:lstStyle/>
          <a:p>
            <a:endParaRPr lang="en-US"/>
          </a:p>
        </p:txBody>
      </p:sp>
      <p:sp>
        <p:nvSpPr>
          <p:cNvPr id="5" name="Shape 2"/>
          <p:cNvSpPr/>
          <p:nvPr/>
        </p:nvSpPr>
        <p:spPr>
          <a:xfrm>
            <a:off x="428625" y="984331"/>
            <a:ext cx="42863" cy="855464"/>
          </a:xfrm>
          <a:prstGeom prst="rect">
            <a:avLst/>
          </a:prstGeom>
          <a:solidFill>
            <a:srgbClr val="4338CA"/>
          </a:solidFill>
          <a:ln/>
        </p:spPr>
        <p:txBody>
          <a:bodyPr/>
          <a:lstStyle/>
          <a:p>
            <a:endParaRPr lang="en-US"/>
          </a:p>
        </p:txBody>
      </p:sp>
      <p:sp>
        <p:nvSpPr>
          <p:cNvPr id="6" name="Text 3"/>
          <p:cNvSpPr/>
          <p:nvPr/>
        </p:nvSpPr>
        <p:spPr>
          <a:xfrm>
            <a:off x="571500" y="1091487"/>
            <a:ext cx="2678906"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F172A"/>
                </a:solidFill>
                <a:latin typeface="Inter" pitchFamily="34" charset="0"/>
                <a:ea typeface="Inter" pitchFamily="34" charset="-122"/>
                <a:cs typeface="Inter" pitchFamily="34" charset="-120"/>
              </a:rPr>
              <a:t>Dijital Giriş (DI) Bağlantısı</a:t>
            </a:r>
            <a:endParaRPr lang="en-US" sz="885" dirty="0"/>
          </a:p>
        </p:txBody>
      </p:sp>
      <p:sp>
        <p:nvSpPr>
          <p:cNvPr id="7" name="Text 4"/>
          <p:cNvSpPr/>
          <p:nvPr/>
        </p:nvSpPr>
        <p:spPr>
          <a:xfrm>
            <a:off x="571500" y="1282582"/>
            <a:ext cx="2678906" cy="557213"/>
          </a:xfrm>
          <a:prstGeom prst="rect">
            <a:avLst/>
          </a:prstGeom>
          <a:noFill/>
          <a:ln/>
        </p:spPr>
        <p:txBody>
          <a:bodyPr wrap="square" lIns="0" tIns="0" rIns="0" bIns="127508" rtlCol="0" anchor="t">
            <a:spAutoFit/>
          </a:bodyPr>
          <a:lstStyle/>
          <a:p>
            <a:pPr marL="0" indent="0" algn="l">
              <a:lnSpc>
                <a:spcPts val="1200"/>
              </a:lnSpc>
              <a:buNone/>
            </a:pPr>
            <a:r>
              <a:rPr lang="en-US" sz="780" dirty="0">
                <a:solidFill>
                  <a:srgbClr val="475569"/>
                </a:solidFill>
                <a:latin typeface="Inter" pitchFamily="34" charset="0"/>
                <a:ea typeface="Inter" pitchFamily="34" charset="-122"/>
                <a:cs typeface="Inter" pitchFamily="34" charset="-120"/>
              </a:rPr>
              <a:t>Mekanik sensörler PLC'nin dijital girişlerine bağlanır. Sensörün konumu (açık/kapalı) PLC tarafından lojik 1 veya 0 olarak algılanır.</a:t>
            </a:r>
            <a:endParaRPr lang="en-US" sz="780" dirty="0"/>
          </a:p>
        </p:txBody>
      </p:sp>
      <p:sp>
        <p:nvSpPr>
          <p:cNvPr id="8" name="Shape 5"/>
          <p:cNvSpPr/>
          <p:nvPr/>
        </p:nvSpPr>
        <p:spPr>
          <a:xfrm>
            <a:off x="428625" y="1946951"/>
            <a:ext cx="2964656" cy="855464"/>
          </a:xfrm>
          <a:prstGeom prst="rect">
            <a:avLst/>
          </a:prstGeom>
          <a:solidFill>
            <a:srgbClr val="FFFFFF"/>
          </a:solidFill>
          <a:ln/>
        </p:spPr>
        <p:txBody>
          <a:bodyPr/>
          <a:lstStyle/>
          <a:p>
            <a:endParaRPr lang="en-US"/>
          </a:p>
        </p:txBody>
      </p:sp>
      <p:sp>
        <p:nvSpPr>
          <p:cNvPr id="9" name="Shape 6"/>
          <p:cNvSpPr/>
          <p:nvPr/>
        </p:nvSpPr>
        <p:spPr>
          <a:xfrm>
            <a:off x="428625" y="1946951"/>
            <a:ext cx="42863" cy="855464"/>
          </a:xfrm>
          <a:prstGeom prst="rect">
            <a:avLst/>
          </a:prstGeom>
          <a:solidFill>
            <a:srgbClr val="059669"/>
          </a:solidFill>
          <a:ln/>
        </p:spPr>
        <p:txBody>
          <a:bodyPr/>
          <a:lstStyle/>
          <a:p>
            <a:endParaRPr lang="en-US"/>
          </a:p>
        </p:txBody>
      </p:sp>
      <p:sp>
        <p:nvSpPr>
          <p:cNvPr id="10" name="Text 7"/>
          <p:cNvSpPr/>
          <p:nvPr/>
        </p:nvSpPr>
        <p:spPr>
          <a:xfrm>
            <a:off x="571500" y="2054107"/>
            <a:ext cx="2678906"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F172A"/>
                </a:solidFill>
                <a:latin typeface="Inter" pitchFamily="34" charset="0"/>
                <a:ea typeface="Inter" pitchFamily="34" charset="-122"/>
                <a:cs typeface="Inter" pitchFamily="34" charset="-120"/>
              </a:rPr>
              <a:t>PNP Bağlantı Tipi</a:t>
            </a:r>
            <a:endParaRPr lang="en-US" sz="885" dirty="0"/>
          </a:p>
        </p:txBody>
      </p:sp>
      <p:sp>
        <p:nvSpPr>
          <p:cNvPr id="11" name="Text 8"/>
          <p:cNvSpPr/>
          <p:nvPr/>
        </p:nvSpPr>
        <p:spPr>
          <a:xfrm>
            <a:off x="571500" y="2245202"/>
            <a:ext cx="2678906" cy="557213"/>
          </a:xfrm>
          <a:prstGeom prst="rect">
            <a:avLst/>
          </a:prstGeom>
          <a:noFill/>
          <a:ln/>
        </p:spPr>
        <p:txBody>
          <a:bodyPr wrap="square" lIns="0" tIns="0" rIns="0" bIns="127508" rtlCol="0" anchor="t">
            <a:spAutoFit/>
          </a:bodyPr>
          <a:lstStyle/>
          <a:p>
            <a:pPr marL="0" indent="0" algn="l">
              <a:lnSpc>
                <a:spcPts val="1200"/>
              </a:lnSpc>
              <a:buNone/>
            </a:pPr>
            <a:r>
              <a:rPr lang="en-US" sz="780" dirty="0">
                <a:solidFill>
                  <a:srgbClr val="475569"/>
                </a:solidFill>
                <a:latin typeface="Inter" pitchFamily="34" charset="0"/>
                <a:ea typeface="Inter" pitchFamily="34" charset="-122"/>
                <a:cs typeface="Inter" pitchFamily="34" charset="-120"/>
              </a:rPr>
              <a:t>Sensör tetiklendiğinde PLC girişine +24V DC sinyali gönderir. Endüstride en yaygın kullanılan güvenli bağlantı tipidir.</a:t>
            </a:r>
            <a:endParaRPr lang="en-US" sz="780" dirty="0"/>
          </a:p>
        </p:txBody>
      </p:sp>
      <p:sp>
        <p:nvSpPr>
          <p:cNvPr id="12" name="Shape 9"/>
          <p:cNvSpPr/>
          <p:nvPr/>
        </p:nvSpPr>
        <p:spPr>
          <a:xfrm>
            <a:off x="428625" y="2909571"/>
            <a:ext cx="2964656" cy="855464"/>
          </a:xfrm>
          <a:prstGeom prst="rect">
            <a:avLst/>
          </a:prstGeom>
          <a:solidFill>
            <a:srgbClr val="FFFFFF"/>
          </a:solidFill>
          <a:ln/>
        </p:spPr>
        <p:txBody>
          <a:bodyPr/>
          <a:lstStyle/>
          <a:p>
            <a:endParaRPr lang="en-US"/>
          </a:p>
        </p:txBody>
      </p:sp>
      <p:sp>
        <p:nvSpPr>
          <p:cNvPr id="13" name="Shape 10"/>
          <p:cNvSpPr/>
          <p:nvPr/>
        </p:nvSpPr>
        <p:spPr>
          <a:xfrm>
            <a:off x="428625" y="2909571"/>
            <a:ext cx="42863" cy="855464"/>
          </a:xfrm>
          <a:prstGeom prst="rect">
            <a:avLst/>
          </a:prstGeom>
          <a:solidFill>
            <a:srgbClr val="4338CA"/>
          </a:solidFill>
          <a:ln/>
        </p:spPr>
        <p:txBody>
          <a:bodyPr/>
          <a:lstStyle/>
          <a:p>
            <a:endParaRPr lang="en-US"/>
          </a:p>
        </p:txBody>
      </p:sp>
      <p:sp>
        <p:nvSpPr>
          <p:cNvPr id="14" name="Text 11"/>
          <p:cNvSpPr/>
          <p:nvPr/>
        </p:nvSpPr>
        <p:spPr>
          <a:xfrm>
            <a:off x="571500" y="3016727"/>
            <a:ext cx="2678906"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F172A"/>
                </a:solidFill>
                <a:latin typeface="Inter" pitchFamily="34" charset="0"/>
                <a:ea typeface="Inter" pitchFamily="34" charset="-122"/>
                <a:cs typeface="Inter" pitchFamily="34" charset="-120"/>
              </a:rPr>
              <a:t>NPN Bağlantı Tipi</a:t>
            </a:r>
            <a:endParaRPr lang="en-US" sz="885" dirty="0"/>
          </a:p>
        </p:txBody>
      </p:sp>
      <p:sp>
        <p:nvSpPr>
          <p:cNvPr id="15" name="Text 12"/>
          <p:cNvSpPr/>
          <p:nvPr/>
        </p:nvSpPr>
        <p:spPr>
          <a:xfrm>
            <a:off x="571500" y="3207823"/>
            <a:ext cx="2678906" cy="557213"/>
          </a:xfrm>
          <a:prstGeom prst="rect">
            <a:avLst/>
          </a:prstGeom>
          <a:noFill/>
          <a:ln/>
        </p:spPr>
        <p:txBody>
          <a:bodyPr wrap="square" lIns="0" tIns="0" rIns="0" bIns="127508" rtlCol="0" anchor="t">
            <a:spAutoFit/>
          </a:bodyPr>
          <a:lstStyle/>
          <a:p>
            <a:pPr marL="0" indent="0" algn="l">
              <a:lnSpc>
                <a:spcPts val="1200"/>
              </a:lnSpc>
              <a:buNone/>
            </a:pPr>
            <a:r>
              <a:rPr lang="en-US" sz="780" dirty="0">
                <a:solidFill>
                  <a:srgbClr val="475569"/>
                </a:solidFill>
                <a:latin typeface="Inter" pitchFamily="34" charset="0"/>
                <a:ea typeface="Inter" pitchFamily="34" charset="-122"/>
                <a:cs typeface="Inter" pitchFamily="34" charset="-120"/>
              </a:rPr>
              <a:t>Sensör tetiklendiğinde PLC girişini şaseye (0V) çeker. Genellikle Asya menşeli cihazlarda ve özel devrelerde tercih edilir.</a:t>
            </a:r>
            <a:endParaRPr lang="en-US" sz="780" dirty="0"/>
          </a:p>
        </p:txBody>
      </p:sp>
      <p:sp>
        <p:nvSpPr>
          <p:cNvPr id="16" name="Shape 13"/>
          <p:cNvSpPr/>
          <p:nvPr/>
        </p:nvSpPr>
        <p:spPr>
          <a:xfrm>
            <a:off x="428625" y="3872192"/>
            <a:ext cx="2964656" cy="855464"/>
          </a:xfrm>
          <a:prstGeom prst="rect">
            <a:avLst/>
          </a:prstGeom>
          <a:solidFill>
            <a:srgbClr val="FFFFFF"/>
          </a:solidFill>
          <a:ln/>
        </p:spPr>
        <p:txBody>
          <a:bodyPr/>
          <a:lstStyle/>
          <a:p>
            <a:endParaRPr lang="en-US"/>
          </a:p>
        </p:txBody>
      </p:sp>
      <p:sp>
        <p:nvSpPr>
          <p:cNvPr id="17" name="Shape 14"/>
          <p:cNvSpPr/>
          <p:nvPr/>
        </p:nvSpPr>
        <p:spPr>
          <a:xfrm>
            <a:off x="428625" y="3872192"/>
            <a:ext cx="42863" cy="855464"/>
          </a:xfrm>
          <a:prstGeom prst="rect">
            <a:avLst/>
          </a:prstGeom>
          <a:solidFill>
            <a:srgbClr val="059669"/>
          </a:solidFill>
          <a:ln/>
        </p:spPr>
        <p:txBody>
          <a:bodyPr/>
          <a:lstStyle/>
          <a:p>
            <a:endParaRPr lang="en-US"/>
          </a:p>
        </p:txBody>
      </p:sp>
      <p:sp>
        <p:nvSpPr>
          <p:cNvPr id="18" name="Text 15"/>
          <p:cNvSpPr/>
          <p:nvPr/>
        </p:nvSpPr>
        <p:spPr>
          <a:xfrm>
            <a:off x="571500" y="3979348"/>
            <a:ext cx="2678906"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F172A"/>
                </a:solidFill>
                <a:latin typeface="Inter" pitchFamily="34" charset="0"/>
                <a:ea typeface="Inter" pitchFamily="34" charset="-122"/>
                <a:cs typeface="Inter" pitchFamily="34" charset="-120"/>
              </a:rPr>
              <a:t>Kablolama Standartları</a:t>
            </a:r>
            <a:endParaRPr lang="en-US" sz="885" dirty="0"/>
          </a:p>
        </p:txBody>
      </p:sp>
      <p:sp>
        <p:nvSpPr>
          <p:cNvPr id="19" name="Text 16"/>
          <p:cNvSpPr/>
          <p:nvPr/>
        </p:nvSpPr>
        <p:spPr>
          <a:xfrm>
            <a:off x="571500" y="4170443"/>
            <a:ext cx="2678906" cy="557213"/>
          </a:xfrm>
          <a:prstGeom prst="rect">
            <a:avLst/>
          </a:prstGeom>
          <a:noFill/>
          <a:ln/>
        </p:spPr>
        <p:txBody>
          <a:bodyPr wrap="square" lIns="0" tIns="0" rIns="0" bIns="127508" rtlCol="0" anchor="t">
            <a:spAutoFit/>
          </a:bodyPr>
          <a:lstStyle/>
          <a:p>
            <a:pPr marL="0" indent="0" algn="l">
              <a:lnSpc>
                <a:spcPts val="1200"/>
              </a:lnSpc>
              <a:buNone/>
            </a:pPr>
            <a:r>
              <a:rPr lang="en-US" sz="780" dirty="0">
                <a:solidFill>
                  <a:srgbClr val="475569"/>
                </a:solidFill>
                <a:latin typeface="Inter" pitchFamily="34" charset="0"/>
                <a:ea typeface="Inter" pitchFamily="34" charset="-122"/>
                <a:cs typeface="Inter" pitchFamily="34" charset="-120"/>
              </a:rPr>
              <a:t>Mekanik anahtarlar genellikle 2 kabloludur. Bir uç beslemeye (L+), diğer uç ise PLC giriş klemensine bağlanır.</a:t>
            </a:r>
            <a:endParaRPr lang="en-US" sz="780" dirty="0"/>
          </a:p>
        </p:txBody>
      </p:sp>
      <p:pic>
        <p:nvPicPr>
          <p:cNvPr id="20" name="Image 1" descr="preencoded.png"/>
          <p:cNvPicPr>
            <a:picLocks noChangeAspect="1"/>
          </p:cNvPicPr>
          <p:nvPr/>
        </p:nvPicPr>
        <p:blipFill>
          <a:blip r:embed="rId4"/>
          <a:stretch>
            <a:fillRect/>
          </a:stretch>
        </p:blipFill>
        <p:spPr>
          <a:xfrm>
            <a:off x="3607594" y="1055768"/>
            <a:ext cx="2500313" cy="2286000"/>
          </a:xfrm>
          <a:prstGeom prst="rect">
            <a:avLst/>
          </a:prstGeom>
        </p:spPr>
      </p:pic>
      <p:pic>
        <p:nvPicPr>
          <p:cNvPr id="21" name="Image 2" descr="preencoded.png"/>
          <p:cNvPicPr>
            <a:picLocks noChangeAspect="1"/>
          </p:cNvPicPr>
          <p:nvPr/>
        </p:nvPicPr>
        <p:blipFill>
          <a:blip r:embed="rId5"/>
          <a:stretch>
            <a:fillRect/>
          </a:stretch>
        </p:blipFill>
        <p:spPr>
          <a:xfrm>
            <a:off x="6215063" y="1055768"/>
            <a:ext cx="2500313" cy="228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713231"/>
            <a:ext cx="8429625" cy="417909"/>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F172A"/>
                </a:solidFill>
                <a:latin typeface="Montserrat" pitchFamily="34" charset="0"/>
                <a:ea typeface="Montserrat" pitchFamily="34" charset="-122"/>
                <a:cs typeface="Montserrat" pitchFamily="34" charset="-120"/>
              </a:rPr>
              <a:t>ÖZET VE SONUÇ</a:t>
            </a:r>
            <a:endParaRPr lang="en-US" sz="2436" dirty="0"/>
          </a:p>
        </p:txBody>
      </p:sp>
      <p:sp>
        <p:nvSpPr>
          <p:cNvPr id="4" name="Shape 1"/>
          <p:cNvSpPr/>
          <p:nvPr/>
        </p:nvSpPr>
        <p:spPr>
          <a:xfrm>
            <a:off x="714375" y="1416890"/>
            <a:ext cx="3714750" cy="2357438"/>
          </a:xfrm>
          <a:prstGeom prst="rect">
            <a:avLst/>
          </a:prstGeom>
          <a:solidFill>
            <a:srgbClr val="FFFFFF"/>
          </a:solidFill>
          <a:ln/>
        </p:spPr>
        <p:txBody>
          <a:bodyPr/>
          <a:lstStyle/>
          <a:p>
            <a:endParaRPr lang="en-US"/>
          </a:p>
        </p:txBody>
      </p:sp>
      <p:sp>
        <p:nvSpPr>
          <p:cNvPr id="5" name="Shape 2"/>
          <p:cNvSpPr/>
          <p:nvPr/>
        </p:nvSpPr>
        <p:spPr>
          <a:xfrm>
            <a:off x="714375" y="1416890"/>
            <a:ext cx="42863" cy="2357438"/>
          </a:xfrm>
          <a:prstGeom prst="rect">
            <a:avLst/>
          </a:prstGeom>
          <a:solidFill>
            <a:srgbClr val="4338CA"/>
          </a:solidFill>
          <a:ln/>
        </p:spPr>
        <p:txBody>
          <a:bodyPr/>
          <a:lstStyle/>
          <a:p>
            <a:endParaRPr lang="en-US"/>
          </a:p>
        </p:txBody>
      </p:sp>
      <p:sp>
        <p:nvSpPr>
          <p:cNvPr id="6" name="Text 3"/>
          <p:cNvSpPr/>
          <p:nvPr/>
        </p:nvSpPr>
        <p:spPr>
          <a:xfrm>
            <a:off x="928688" y="1631203"/>
            <a:ext cx="3286125"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F172A"/>
                </a:solidFill>
                <a:latin typeface="Montserrat" pitchFamily="34" charset="0"/>
                <a:ea typeface="Montserrat" pitchFamily="34" charset="-122"/>
                <a:cs typeface="Montserrat" pitchFamily="34" charset="-120"/>
              </a:rPr>
              <a:t>Analog Sinyaller (4-20 mA)</a:t>
            </a:r>
            <a:endParaRPr lang="en-US" sz="1397" dirty="0"/>
          </a:p>
        </p:txBody>
      </p:sp>
      <p:sp>
        <p:nvSpPr>
          <p:cNvPr id="7" name="Text 4"/>
          <p:cNvSpPr/>
          <p:nvPr/>
        </p:nvSpPr>
        <p:spPr>
          <a:xfrm>
            <a:off x="928688" y="2016965"/>
            <a:ext cx="3286125" cy="1585913"/>
          </a:xfrm>
          <a:prstGeom prst="rect">
            <a:avLst/>
          </a:prstGeom>
          <a:noFill/>
          <a:ln/>
        </p:spPr>
        <p:txBody>
          <a:bodyPr wrap="square" lIns="0" tIns="0" rIns="0" bIns="255143" rtlCol="0" anchor="t">
            <a:spAutoFit/>
          </a:bodyPr>
          <a:lstStyle/>
          <a:p>
            <a:pPr marL="0" indent="0" algn="l">
              <a:lnSpc>
                <a:spcPts val="1800"/>
              </a:lnSpc>
              <a:buNone/>
            </a:pPr>
            <a:r>
              <a:rPr lang="en-US" sz="1050" dirty="0">
                <a:solidFill>
                  <a:srgbClr val="475569"/>
                </a:solidFill>
                <a:latin typeface="Inter" pitchFamily="34" charset="0"/>
                <a:ea typeface="Inter" pitchFamily="34" charset="-122"/>
                <a:cs typeface="Inter" pitchFamily="34" charset="-120"/>
              </a:rPr>
              <a:t>Endüstriyel otomasyonda 4-20 mA akım döngüsü; uzun mesafe iletimi, yüksek gürültü bağışıklığı ve "Live Zero" özelliği sayesinde hata tespiti sunan en güvenilir standarttır. Hassas ölçüm gerektiren basınç, sıcaklık ve seviye kontrolü için vazgeçilmezdir.</a:t>
            </a:r>
            <a:endParaRPr lang="en-US" sz="1050" dirty="0"/>
          </a:p>
        </p:txBody>
      </p:sp>
      <p:sp>
        <p:nvSpPr>
          <p:cNvPr id="8" name="Shape 5"/>
          <p:cNvSpPr/>
          <p:nvPr/>
        </p:nvSpPr>
        <p:spPr>
          <a:xfrm>
            <a:off x="4714875" y="1416890"/>
            <a:ext cx="3714750" cy="2357438"/>
          </a:xfrm>
          <a:prstGeom prst="rect">
            <a:avLst/>
          </a:prstGeom>
          <a:solidFill>
            <a:srgbClr val="FFFFFF"/>
          </a:solidFill>
          <a:ln/>
        </p:spPr>
        <p:txBody>
          <a:bodyPr/>
          <a:lstStyle/>
          <a:p>
            <a:endParaRPr lang="en-US"/>
          </a:p>
        </p:txBody>
      </p:sp>
      <p:sp>
        <p:nvSpPr>
          <p:cNvPr id="9" name="Shape 6"/>
          <p:cNvSpPr/>
          <p:nvPr/>
        </p:nvSpPr>
        <p:spPr>
          <a:xfrm>
            <a:off x="4714875" y="1416890"/>
            <a:ext cx="42863" cy="2357438"/>
          </a:xfrm>
          <a:prstGeom prst="rect">
            <a:avLst/>
          </a:prstGeom>
          <a:solidFill>
            <a:srgbClr val="059669"/>
          </a:solidFill>
          <a:ln/>
        </p:spPr>
        <p:txBody>
          <a:bodyPr/>
          <a:lstStyle/>
          <a:p>
            <a:endParaRPr lang="en-US"/>
          </a:p>
        </p:txBody>
      </p:sp>
      <p:sp>
        <p:nvSpPr>
          <p:cNvPr id="10" name="Text 7"/>
          <p:cNvSpPr/>
          <p:nvPr/>
        </p:nvSpPr>
        <p:spPr>
          <a:xfrm>
            <a:off x="4929188" y="1631203"/>
            <a:ext cx="3286125"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F172A"/>
                </a:solidFill>
                <a:latin typeface="Montserrat" pitchFamily="34" charset="0"/>
                <a:ea typeface="Montserrat" pitchFamily="34" charset="-122"/>
                <a:cs typeface="Montserrat" pitchFamily="34" charset="-120"/>
              </a:rPr>
              <a:t>Mekanik Sensörler</a:t>
            </a:r>
            <a:endParaRPr lang="en-US" sz="1397" dirty="0"/>
          </a:p>
        </p:txBody>
      </p:sp>
      <p:sp>
        <p:nvSpPr>
          <p:cNvPr id="11" name="Text 8"/>
          <p:cNvSpPr/>
          <p:nvPr/>
        </p:nvSpPr>
        <p:spPr>
          <a:xfrm>
            <a:off x="4929188" y="2016965"/>
            <a:ext cx="3286125" cy="1585913"/>
          </a:xfrm>
          <a:prstGeom prst="rect">
            <a:avLst/>
          </a:prstGeom>
          <a:noFill/>
          <a:ln/>
        </p:spPr>
        <p:txBody>
          <a:bodyPr wrap="square" lIns="0" tIns="0" rIns="0" bIns="255143" rtlCol="0" anchor="t">
            <a:spAutoFit/>
          </a:bodyPr>
          <a:lstStyle/>
          <a:p>
            <a:pPr marL="0" indent="0" algn="l">
              <a:lnSpc>
                <a:spcPts val="1800"/>
              </a:lnSpc>
              <a:buNone/>
            </a:pPr>
            <a:r>
              <a:rPr lang="en-US" sz="1050" dirty="0">
                <a:solidFill>
                  <a:srgbClr val="475569"/>
                </a:solidFill>
                <a:latin typeface="Inter" pitchFamily="34" charset="0"/>
                <a:ea typeface="Inter" pitchFamily="34" charset="-122"/>
                <a:cs typeface="Inter" pitchFamily="34" charset="-120"/>
              </a:rPr>
              <a:t>Limit switch gibi mekanik sensörler, fiziksel temas yoluyla nesne algılama ve konum belirleme süreçlerinde basit, dayanıklı ve ekonomik çözümler sunar. PLC sistemlerine dijital girişler üzerinden entegre edilerek emniyet ve sınır kontrolü sağlarlar.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543192-A554-9A98-23ED-DB9220AD12A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66000"/>
                    </a14:imgEffect>
                  </a14:imgLayer>
                </a14:imgProps>
              </a:ext>
            </a:extLst>
          </a:blip>
          <a:stretch>
            <a:fillRect/>
          </a:stretch>
        </p:blipFill>
        <p:spPr>
          <a:xfrm>
            <a:off x="0" y="77932"/>
            <a:ext cx="9144000" cy="4987636"/>
          </a:xfrm>
          <a:prstGeom prst="rect">
            <a:avLst/>
          </a:prstGeom>
        </p:spPr>
      </p:pic>
    </p:spTree>
    <p:extLst>
      <p:ext uri="{BB962C8B-B14F-4D97-AF65-F5344CB8AC3E}">
        <p14:creationId xmlns:p14="http://schemas.microsoft.com/office/powerpoint/2010/main" val="441694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5F23B1-4EA2-DA68-1022-32A98728077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0" y="75902"/>
            <a:ext cx="9144000" cy="4991695"/>
          </a:xfrm>
          <a:prstGeom prst="rect">
            <a:avLst/>
          </a:prstGeom>
        </p:spPr>
      </p:pic>
    </p:spTree>
    <p:extLst>
      <p:ext uri="{BB962C8B-B14F-4D97-AF65-F5344CB8AC3E}">
        <p14:creationId xmlns:p14="http://schemas.microsoft.com/office/powerpoint/2010/main" val="1798159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858375" cy="5143500"/>
          </a:xfrm>
          <a:prstGeom prst="rect">
            <a:avLst/>
          </a:prstGeom>
          <a:solidFill>
            <a:srgbClr val="E2E8F0"/>
          </a:solidFill>
          <a:ln/>
        </p:spPr>
        <p:txBody>
          <a:bodyPr/>
          <a:lstStyle/>
          <a:p>
            <a:endParaRPr lang="en-US"/>
          </a:p>
        </p:txBody>
      </p:sp>
      <p:sp>
        <p:nvSpPr>
          <p:cNvPr id="4" name="Text 1"/>
          <p:cNvSpPr/>
          <p:nvPr/>
        </p:nvSpPr>
        <p:spPr>
          <a:xfrm>
            <a:off x="714375" y="1575113"/>
            <a:ext cx="6429375" cy="502909"/>
          </a:xfrm>
          <a:prstGeom prst="rect">
            <a:avLst/>
          </a:prstGeom>
          <a:noFill/>
          <a:ln/>
        </p:spPr>
        <p:txBody>
          <a:bodyPr wrap="none" lIns="0" tIns="0" rIns="0" bIns="0" rtlCol="0" anchor="t">
            <a:spAutoFit/>
          </a:bodyPr>
          <a:lstStyle/>
          <a:p>
            <a:pPr marL="0" indent="0" algn="l">
              <a:lnSpc>
                <a:spcPts val="4000"/>
              </a:lnSpc>
              <a:buNone/>
            </a:pPr>
            <a:r>
              <a:rPr lang="en-US" sz="3294" b="1" dirty="0">
                <a:solidFill>
                  <a:srgbClr val="0F172A"/>
                </a:solidFill>
                <a:latin typeface="Montserrat" pitchFamily="34" charset="0"/>
                <a:ea typeface="Montserrat" pitchFamily="34" charset="-122"/>
                <a:cs typeface="Montserrat" pitchFamily="34" charset="-120"/>
              </a:rPr>
              <a:t>TEŞEKKÜRLER</a:t>
            </a:r>
            <a:endParaRPr lang="en-US" sz="3294" dirty="0"/>
          </a:p>
        </p:txBody>
      </p:sp>
      <p:sp>
        <p:nvSpPr>
          <p:cNvPr id="5" name="Text 2"/>
          <p:cNvSpPr/>
          <p:nvPr/>
        </p:nvSpPr>
        <p:spPr>
          <a:xfrm>
            <a:off x="714375" y="2220897"/>
            <a:ext cx="6429375" cy="27682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4338CA"/>
                </a:solidFill>
                <a:latin typeface="Inter" pitchFamily="34" charset="0"/>
                <a:ea typeface="Inter" pitchFamily="34" charset="-122"/>
                <a:cs typeface="Inter" pitchFamily="34" charset="-120"/>
              </a:rPr>
              <a:t>Sorularınız varsa yanıtlamaktan memnuniyet duyarım.</a:t>
            </a:r>
            <a:endParaRPr lang="en-US" sz="1602" dirty="0"/>
          </a:p>
        </p:txBody>
      </p:sp>
      <p:sp>
        <p:nvSpPr>
          <p:cNvPr id="6" name="Shape 3"/>
          <p:cNvSpPr/>
          <p:nvPr/>
        </p:nvSpPr>
        <p:spPr>
          <a:xfrm>
            <a:off x="714375" y="2926342"/>
            <a:ext cx="3911203" cy="948333"/>
          </a:xfrm>
          <a:prstGeom prst="rect">
            <a:avLst/>
          </a:prstGeom>
          <a:solidFill>
            <a:srgbClr val="FFFFFF"/>
          </a:solidFill>
          <a:ln/>
        </p:spPr>
        <p:txBody>
          <a:bodyPr/>
          <a:lstStyle/>
          <a:p>
            <a:endParaRPr lang="en-US"/>
          </a:p>
        </p:txBody>
      </p:sp>
      <p:sp>
        <p:nvSpPr>
          <p:cNvPr id="7" name="Shape 4"/>
          <p:cNvSpPr/>
          <p:nvPr/>
        </p:nvSpPr>
        <p:spPr>
          <a:xfrm>
            <a:off x="714375" y="2926342"/>
            <a:ext cx="42863" cy="948333"/>
          </a:xfrm>
          <a:prstGeom prst="rect">
            <a:avLst/>
          </a:prstGeom>
          <a:solidFill>
            <a:srgbClr val="059669"/>
          </a:solidFill>
          <a:ln/>
        </p:spPr>
        <p:txBody>
          <a:bodyPr/>
          <a:lstStyle/>
          <a:p>
            <a:endParaRPr lang="en-US"/>
          </a:p>
        </p:txBody>
      </p:sp>
      <p:sp>
        <p:nvSpPr>
          <p:cNvPr id="8" name="Text 5"/>
          <p:cNvSpPr/>
          <p:nvPr/>
        </p:nvSpPr>
        <p:spPr>
          <a:xfrm>
            <a:off x="928688" y="3140655"/>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Hazırlayan:</a:t>
            </a:r>
            <a:r>
              <a:rPr lang="en-US" sz="1050" dirty="0">
                <a:solidFill>
                  <a:srgbClr val="475569"/>
                </a:solidFill>
                <a:latin typeface="Inter" pitchFamily="34" charset="0"/>
                <a:ea typeface="Inter" pitchFamily="34" charset="-122"/>
                <a:cs typeface="Inter" pitchFamily="34" charset="-120"/>
              </a:rPr>
              <a:t> MOHAMMED MASHHOR ALMASHHOR</a:t>
            </a:r>
            <a:endParaRPr lang="en-US" sz="987" dirty="0"/>
          </a:p>
        </p:txBody>
      </p:sp>
      <p:sp>
        <p:nvSpPr>
          <p:cNvPr id="9" name="Text 6"/>
          <p:cNvSpPr/>
          <p:nvPr/>
        </p:nvSpPr>
        <p:spPr>
          <a:xfrm>
            <a:off x="928688" y="3385328"/>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Öğrenci No:</a:t>
            </a:r>
            <a:r>
              <a:rPr lang="en-US" sz="1050" dirty="0">
                <a:solidFill>
                  <a:srgbClr val="475569"/>
                </a:solidFill>
                <a:latin typeface="Inter" pitchFamily="34" charset="0"/>
                <a:ea typeface="Inter" pitchFamily="34" charset="-122"/>
                <a:cs typeface="Inter" pitchFamily="34" charset="-120"/>
              </a:rPr>
              <a:t> 9211118091</a:t>
            </a:r>
            <a:endParaRPr lang="en-US" sz="987" dirty="0"/>
          </a:p>
        </p:txBody>
      </p:sp>
      <p:sp>
        <p:nvSpPr>
          <p:cNvPr id="10" name="Text 7"/>
          <p:cNvSpPr/>
          <p:nvPr/>
        </p:nvSpPr>
        <p:spPr>
          <a:xfrm>
            <a:off x="928688" y="3630002"/>
            <a:ext cx="3439716"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Inter" pitchFamily="34" charset="0"/>
                <a:ea typeface="Inter" pitchFamily="34" charset="-122"/>
                <a:cs typeface="Inter" pitchFamily="34" charset="-120"/>
              </a:rPr>
              <a:t>Tarih:</a:t>
            </a:r>
            <a:r>
              <a:rPr lang="en-US" sz="1050" dirty="0">
                <a:solidFill>
                  <a:srgbClr val="475569"/>
                </a:solidFill>
                <a:latin typeface="Inter" pitchFamily="34" charset="0"/>
                <a:ea typeface="Inter" pitchFamily="34" charset="-122"/>
                <a:cs typeface="Inter" pitchFamily="34" charset="-120"/>
              </a:rPr>
              <a:t> Mart 2026</a:t>
            </a:r>
            <a:endParaRPr lang="en-US" sz="98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915</Words>
  <Application>Microsoft Office PowerPoint</Application>
  <PresentationFormat>On-screen Show (16:9)</PresentationFormat>
  <Paragraphs>108</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Inter</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Mashhor Mohammed Al-mashhor</cp:lastModifiedBy>
  <cp:revision>2</cp:revision>
  <dcterms:created xsi:type="dcterms:W3CDTF">2026-03-22T19:28:49Z</dcterms:created>
  <dcterms:modified xsi:type="dcterms:W3CDTF">2026-03-22T19:47:41Z</dcterms:modified>
</cp:coreProperties>
</file>